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9144000" cy="1104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2E8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29"/>
    <p:restoredTop sz="94694"/>
  </p:normalViewPr>
  <p:slideViewPr>
    <p:cSldViewPr snapToGrid="0">
      <p:cViewPr>
        <p:scale>
          <a:sx n="38" d="100"/>
          <a:sy n="38" d="100"/>
        </p:scale>
        <p:origin x="2864" y="1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public/figures/bagel-attention-</a:t>
            </a:r>
            <a:r>
              <a:rPr dirty="0" err="1"/>
              <a:t>architecture.svg</a:t>
            </a:r>
            <a:r>
              <a:rPr dirty="0"/>
              <a:t> in the supplied project. One BAGEL decoder layer is shown from bottom to top and repeated N times. Generation tokens use generation parameters, while text and </a:t>
            </a:r>
            <a:r>
              <a:rPr dirty="0" err="1"/>
              <a:t>ViT</a:t>
            </a:r>
            <a:r>
              <a:rPr dirty="0"/>
              <a:t> tokens use understanding parameters. Query/key normalization and </a:t>
            </a:r>
            <a:r>
              <a:rPr dirty="0" err="1"/>
              <a:t>RoPE</a:t>
            </a:r>
            <a:r>
              <a:rPr dirty="0"/>
              <a:t> apply to Q and K only. Shared attention packs the branches under </a:t>
            </a:r>
            <a:r>
              <a:rPr dirty="0" err="1"/>
              <a:t>attention_mask</a:t>
            </a:r>
            <a:r>
              <a:rPr dirty="0"/>
              <a:t> and routes outputs back to their branch. Residuals wrap attention and MLP separately. Source metadata cites </a:t>
            </a:r>
            <a:r>
              <a:rPr dirty="0" err="1"/>
              <a:t>ByteDance</a:t>
            </a:r>
            <a:r>
              <a:rPr dirty="0"/>
              <a:t>-Seed/Bagel commit a2fa77dd8caeefc41e6607ae0ec17408d3f4ee9f: https://</a:t>
            </a:r>
            <a:r>
              <a:rPr dirty="0" err="1"/>
              <a:t>github.com</a:t>
            </a:r>
            <a:r>
              <a:rPr dirty="0"/>
              <a:t>/</a:t>
            </a:r>
            <a:r>
              <a:rPr dirty="0" err="1"/>
              <a:t>ByteDance</a:t>
            </a:r>
            <a:r>
              <a:rPr dirty="0"/>
              <a:t>-Seed/Bagel/blob/a2fa77dd8caeefc41e6607ae0ec17408d3f4ee9f/modeling/bagel/qwen2_navit.py#L381-L497 ; qwen2_navit.py lines 687–755 ; modeling/bagel/</a:t>
            </a:r>
            <a:r>
              <a:rPr dirty="0" err="1"/>
              <a:t>bagel.py</a:t>
            </a:r>
            <a:r>
              <a:rPr dirty="0"/>
              <a:t> lines 77–87 and 165–185 ; modeling/bagel/</a:t>
            </a:r>
            <a:r>
              <a:rPr dirty="0" err="1"/>
              <a:t>modeling_utils.py</a:t>
            </a:r>
            <a:r>
              <a:rPr dirty="0"/>
              <a:t> lines 113–124 ; modeling/qwen2/modeling_qwen2.py Qwen2MLP. Output heads, KV caches and training-freeze options are outside this layer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BAGEL decoder layer repeated N times">
            <a:extLst>
              <a:ext uri="{FF2B5EF4-FFF2-40B4-BE49-F238E27FC236}">
                <a16:creationId xmlns:a16="http://schemas.microsoft.com/office/drawing/2014/main" id="{91EDC9C2-6236-4D60-AEC5-644DEBF1DC30}"/>
              </a:ext>
            </a:extLst>
          </p:cNvPr>
          <p:cNvSpPr>
            <a:spLocks noGrp="1"/>
          </p:cNvSpPr>
          <p:nvPr/>
        </p:nvSpPr>
        <p:spPr>
          <a:xfrm>
            <a:off x="1044612" y="616813"/>
            <a:ext cx="7392930" cy="8335328"/>
          </a:xfrm>
          <a:prstGeom prst="roundRect">
            <a:avLst>
              <a:gd name="adj" fmla="val 2024"/>
            </a:avLst>
          </a:prstGeom>
          <a:solidFill>
            <a:srgbClr val="F1F1F1"/>
          </a:solidFill>
          <a:ln w="38100">
            <a:solidFill>
              <a:srgbClr val="111111"/>
            </a:solidFill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Generation branch title">
            <a:extLst>
              <a:ext uri="{FF2B5EF4-FFF2-40B4-BE49-F238E27FC236}">
                <a16:creationId xmlns:a16="http://schemas.microsoft.com/office/drawing/2014/main" id="{D8F06A9A-8FF9-44B5-BF49-DCE3E4E9A831}"/>
              </a:ext>
            </a:extLst>
          </p:cNvPr>
          <p:cNvSpPr>
            <a:spLocks noGrp="1"/>
          </p:cNvSpPr>
          <p:nvPr/>
        </p:nvSpPr>
        <p:spPr>
          <a:xfrm>
            <a:off x="1425612" y="65316"/>
            <a:ext cx="32385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55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Generation</a:t>
            </a:r>
          </a:p>
        </p:txBody>
      </p:sp>
      <p:sp>
        <p:nvSpPr>
          <p:cNvPr id="3" name="Understanding branch title">
            <a:extLst>
              <a:ext uri="{FF2B5EF4-FFF2-40B4-BE49-F238E27FC236}">
                <a16:creationId xmlns:a16="http://schemas.microsoft.com/office/drawing/2014/main" id="{D1CA9182-1512-4F4F-93D3-301D06F33AC9}"/>
              </a:ext>
            </a:extLst>
          </p:cNvPr>
          <p:cNvSpPr>
            <a:spLocks noGrp="1"/>
          </p:cNvSpPr>
          <p:nvPr/>
        </p:nvSpPr>
        <p:spPr>
          <a:xfrm>
            <a:off x="4803548" y="65316"/>
            <a:ext cx="32385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55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Understanding</a:t>
            </a:r>
          </a:p>
        </p:txBody>
      </p:sp>
      <p:sp>
        <p:nvSpPr>
          <p:cNvPr id="4" name="Layer repetition">
            <a:extLst>
              <a:ext uri="{FF2B5EF4-FFF2-40B4-BE49-F238E27FC236}">
                <a16:creationId xmlns:a16="http://schemas.microsoft.com/office/drawing/2014/main" id="{7D685920-0B6E-44F0-8AE8-EB7F555BB2FC}"/>
              </a:ext>
            </a:extLst>
          </p:cNvPr>
          <p:cNvSpPr>
            <a:spLocks noGrp="1"/>
          </p:cNvSpPr>
          <p:nvPr/>
        </p:nvSpPr>
        <p:spPr>
          <a:xfrm>
            <a:off x="313382" y="4423003"/>
            <a:ext cx="4572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i="1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N×</a:t>
            </a:r>
          </a:p>
        </p:txBody>
      </p:sp>
      <p:sp>
        <p:nvSpPr>
          <p:cNvPr id="5" name="Shared attention">
            <a:extLst>
              <a:ext uri="{FF2B5EF4-FFF2-40B4-BE49-F238E27FC236}">
                <a16:creationId xmlns:a16="http://schemas.microsoft.com/office/drawing/2014/main" id="{70C37ACE-237D-4698-AF13-B43B74916137}"/>
              </a:ext>
            </a:extLst>
          </p:cNvPr>
          <p:cNvSpPr>
            <a:spLocks noGrp="1"/>
          </p:cNvSpPr>
          <p:nvPr/>
        </p:nvSpPr>
        <p:spPr>
          <a:xfrm>
            <a:off x="1482762" y="4256316"/>
            <a:ext cx="6520710" cy="762000"/>
          </a:xfrm>
          <a:prstGeom prst="roundRect">
            <a:avLst>
              <a:gd name="adj" fmla="val 6250"/>
            </a:avLst>
          </a:prstGeom>
          <a:solidFill>
            <a:srgbClr val="FFE0B3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7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Shared attention</a:t>
            </a:r>
          </a:p>
        </p:txBody>
      </p:sp>
      <p:sp>
        <p:nvSpPr>
          <p:cNvPr id="6" name="Generation pre-attention RMSNorm">
            <a:extLst>
              <a:ext uri="{FF2B5EF4-FFF2-40B4-BE49-F238E27FC236}">
                <a16:creationId xmlns:a16="http://schemas.microsoft.com/office/drawing/2014/main" id="{7DC8E0EE-4706-43EC-AB88-92EB2F3D1C68}"/>
              </a:ext>
            </a:extLst>
          </p:cNvPr>
          <p:cNvSpPr>
            <a:spLocks noGrp="1"/>
          </p:cNvSpPr>
          <p:nvPr/>
        </p:nvSpPr>
        <p:spPr>
          <a:xfrm>
            <a:off x="1616112" y="7837716"/>
            <a:ext cx="2857500" cy="504825"/>
          </a:xfrm>
          <a:prstGeom prst="roundRect">
            <a:avLst>
              <a:gd name="adj" fmla="val 9434"/>
            </a:avLst>
          </a:prstGeom>
          <a:solidFill>
            <a:srgbClr val="F4F1B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RMSNorm (Pre-attn)</a:t>
            </a:r>
          </a:p>
        </p:txBody>
      </p:sp>
      <p:sp>
        <p:nvSpPr>
          <p:cNvPr id="7" name="Generation Q K V projections">
            <a:extLst>
              <a:ext uri="{FF2B5EF4-FFF2-40B4-BE49-F238E27FC236}">
                <a16:creationId xmlns:a16="http://schemas.microsoft.com/office/drawing/2014/main" id="{0A635172-1F46-4D74-BF5C-B53664CF5C43}"/>
              </a:ext>
            </a:extLst>
          </p:cNvPr>
          <p:cNvSpPr>
            <a:spLocks noGrp="1"/>
          </p:cNvSpPr>
          <p:nvPr/>
        </p:nvSpPr>
        <p:spPr>
          <a:xfrm>
            <a:off x="1616112" y="7018566"/>
            <a:ext cx="2857500" cy="504825"/>
          </a:xfrm>
          <a:prstGeom prst="roundRect">
            <a:avLst>
              <a:gd name="adj" fmla="val 9434"/>
            </a:avLst>
          </a:prstGeom>
          <a:solidFill>
            <a:srgbClr val="DDDFE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Q / K / V projections</a:t>
            </a:r>
          </a:p>
        </p:txBody>
      </p:sp>
      <p:sp>
        <p:nvSpPr>
          <p:cNvPr id="8" name="Generation Q K normalization">
            <a:extLst>
              <a:ext uri="{FF2B5EF4-FFF2-40B4-BE49-F238E27FC236}">
                <a16:creationId xmlns:a16="http://schemas.microsoft.com/office/drawing/2014/main" id="{95E877A8-367B-41AE-BD7E-9699A4E8EAD4}"/>
              </a:ext>
            </a:extLst>
          </p:cNvPr>
          <p:cNvSpPr>
            <a:spLocks noGrp="1"/>
          </p:cNvSpPr>
          <p:nvPr/>
        </p:nvSpPr>
        <p:spPr>
          <a:xfrm>
            <a:off x="1616112" y="6218466"/>
            <a:ext cx="2286000" cy="438150"/>
          </a:xfrm>
          <a:prstGeom prst="roundRect">
            <a:avLst>
              <a:gd name="adj" fmla="val 10870"/>
            </a:avLst>
          </a:prstGeom>
          <a:solidFill>
            <a:srgbClr val="F4F1B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Q norm </a:t>
            </a:r>
            <a:r>
              <a:rPr lang="en-US" altLang="zh-CN" sz="21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&amp;</a:t>
            </a:r>
            <a:r>
              <a:rPr sz="21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 K norm</a:t>
            </a:r>
          </a:p>
        </p:txBody>
      </p:sp>
      <p:sp>
        <p:nvSpPr>
          <p:cNvPr id="9" name="Generation rotary position embedding">
            <a:extLst>
              <a:ext uri="{FF2B5EF4-FFF2-40B4-BE49-F238E27FC236}">
                <a16:creationId xmlns:a16="http://schemas.microsoft.com/office/drawing/2014/main" id="{04851DD7-AE5C-427A-987D-B2BACC030BC7}"/>
              </a:ext>
            </a:extLst>
          </p:cNvPr>
          <p:cNvSpPr>
            <a:spLocks noGrp="1"/>
          </p:cNvSpPr>
          <p:nvPr/>
        </p:nvSpPr>
        <p:spPr>
          <a:xfrm>
            <a:off x="1616112" y="5418366"/>
            <a:ext cx="2286000" cy="438150"/>
          </a:xfrm>
          <a:prstGeom prst="roundRect">
            <a:avLst>
              <a:gd name="adj" fmla="val 10870"/>
            </a:avLst>
          </a:prstGeom>
          <a:solidFill>
            <a:srgbClr val="D2E8C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RoPE (Q, K)</a:t>
            </a:r>
          </a:p>
        </p:txBody>
      </p:sp>
      <p:sp>
        <p:nvSpPr>
          <p:cNvPr id="10" name="Generation attention output projection">
            <a:extLst>
              <a:ext uri="{FF2B5EF4-FFF2-40B4-BE49-F238E27FC236}">
                <a16:creationId xmlns:a16="http://schemas.microsoft.com/office/drawing/2014/main" id="{E0999298-6190-4739-80CC-3C24C0009C73}"/>
              </a:ext>
            </a:extLst>
          </p:cNvPr>
          <p:cNvSpPr>
            <a:spLocks noGrp="1"/>
          </p:cNvSpPr>
          <p:nvPr/>
        </p:nvSpPr>
        <p:spPr>
          <a:xfrm>
            <a:off x="1616112" y="3351441"/>
            <a:ext cx="2857500" cy="504825"/>
          </a:xfrm>
          <a:prstGeom prst="roundRect">
            <a:avLst>
              <a:gd name="adj" fmla="val 9434"/>
            </a:avLst>
          </a:prstGeom>
          <a:solidFill>
            <a:srgbClr val="DDDFE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Output projection</a:t>
            </a:r>
          </a:p>
        </p:txBody>
      </p:sp>
      <p:sp>
        <p:nvSpPr>
          <p:cNvPr id="11" name="Generation attention residual add">
            <a:extLst>
              <a:ext uri="{FF2B5EF4-FFF2-40B4-BE49-F238E27FC236}">
                <a16:creationId xmlns:a16="http://schemas.microsoft.com/office/drawing/2014/main" id="{D12B0151-BD9D-4FFA-B0CF-87D4816293CB}"/>
              </a:ext>
            </a:extLst>
          </p:cNvPr>
          <p:cNvSpPr>
            <a:spLocks noGrp="1"/>
          </p:cNvSpPr>
          <p:nvPr/>
        </p:nvSpPr>
        <p:spPr>
          <a:xfrm>
            <a:off x="2892462" y="2798991"/>
            <a:ext cx="304800" cy="304800"/>
          </a:xfrm>
          <a:prstGeom prst="ellipse">
            <a:avLst/>
          </a:prstGeom>
          <a:solidFill>
            <a:srgbClr val="FFFFFF"/>
          </a:solidFill>
          <a:ln w="20955">
            <a:solidFill>
              <a:srgbClr val="1111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+</a:t>
            </a:r>
          </a:p>
        </p:txBody>
      </p:sp>
      <p:sp>
        <p:nvSpPr>
          <p:cNvPr id="12" name="Generation pre-MLP RMSNorm">
            <a:extLst>
              <a:ext uri="{FF2B5EF4-FFF2-40B4-BE49-F238E27FC236}">
                <a16:creationId xmlns:a16="http://schemas.microsoft.com/office/drawing/2014/main" id="{8679B3A4-D183-4C72-B8A9-D5A880DEF855}"/>
              </a:ext>
            </a:extLst>
          </p:cNvPr>
          <p:cNvSpPr>
            <a:spLocks noGrp="1"/>
          </p:cNvSpPr>
          <p:nvPr/>
        </p:nvSpPr>
        <p:spPr>
          <a:xfrm>
            <a:off x="1616112" y="2094141"/>
            <a:ext cx="2857500" cy="504825"/>
          </a:xfrm>
          <a:prstGeom prst="roundRect">
            <a:avLst>
              <a:gd name="adj" fmla="val 9434"/>
            </a:avLst>
          </a:prstGeom>
          <a:solidFill>
            <a:srgbClr val="F4F1B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0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RMSNorm (Pre-MLP)</a:t>
            </a:r>
          </a:p>
        </p:txBody>
      </p:sp>
      <p:sp>
        <p:nvSpPr>
          <p:cNvPr id="13" name="Generation MLP">
            <a:extLst>
              <a:ext uri="{FF2B5EF4-FFF2-40B4-BE49-F238E27FC236}">
                <a16:creationId xmlns:a16="http://schemas.microsoft.com/office/drawing/2014/main" id="{101248A9-CDC7-4C83-A4AA-DC8EEF18167C}"/>
              </a:ext>
            </a:extLst>
          </p:cNvPr>
          <p:cNvSpPr>
            <a:spLocks noGrp="1"/>
          </p:cNvSpPr>
          <p:nvPr/>
        </p:nvSpPr>
        <p:spPr>
          <a:xfrm>
            <a:off x="1616112" y="1160691"/>
            <a:ext cx="2857500" cy="647700"/>
          </a:xfrm>
          <a:prstGeom prst="roundRect">
            <a:avLst>
              <a:gd name="adj" fmla="val 7353"/>
            </a:avLst>
          </a:prstGeom>
          <a:solidFill>
            <a:srgbClr val="C5E6F1"/>
          </a:solidFill>
          <a:ln w="38100">
            <a:solidFill>
              <a:srgbClr val="111111"/>
            </a:solidFill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Generation MLP label">
            <a:extLst>
              <a:ext uri="{FF2B5EF4-FFF2-40B4-BE49-F238E27FC236}">
                <a16:creationId xmlns:a16="http://schemas.microsoft.com/office/drawing/2014/main" id="{09D99C53-A92D-4F16-A0D3-0FEBE3E67B79}"/>
              </a:ext>
            </a:extLst>
          </p:cNvPr>
          <p:cNvSpPr>
            <a:spLocks noGrp="1"/>
          </p:cNvSpPr>
          <p:nvPr/>
        </p:nvSpPr>
        <p:spPr>
          <a:xfrm>
            <a:off x="1615636" y="1237534"/>
            <a:ext cx="28575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MLP</a:t>
            </a:r>
          </a:p>
        </p:txBody>
      </p:sp>
      <p:sp>
        <p:nvSpPr>
          <p:cNvPr id="15" name="Generation MLP sublayers">
            <a:extLst>
              <a:ext uri="{FF2B5EF4-FFF2-40B4-BE49-F238E27FC236}">
                <a16:creationId xmlns:a16="http://schemas.microsoft.com/office/drawing/2014/main" id="{9CC7E17C-07DA-44F4-806A-282D51FB068D}"/>
              </a:ext>
            </a:extLst>
          </p:cNvPr>
          <p:cNvSpPr>
            <a:spLocks noGrp="1"/>
          </p:cNvSpPr>
          <p:nvPr/>
        </p:nvSpPr>
        <p:spPr>
          <a:xfrm>
            <a:off x="1616112" y="1465491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Gate × Up → Down</a:t>
            </a:r>
          </a:p>
        </p:txBody>
      </p:sp>
      <p:sp>
        <p:nvSpPr>
          <p:cNvPr id="16" name="Generation MLP residual add">
            <a:extLst>
              <a:ext uri="{FF2B5EF4-FFF2-40B4-BE49-F238E27FC236}">
                <a16:creationId xmlns:a16="http://schemas.microsoft.com/office/drawing/2014/main" id="{105557B6-E327-4566-943C-8914DB486963}"/>
              </a:ext>
            </a:extLst>
          </p:cNvPr>
          <p:cNvSpPr>
            <a:spLocks noGrp="1"/>
          </p:cNvSpPr>
          <p:nvPr/>
        </p:nvSpPr>
        <p:spPr>
          <a:xfrm>
            <a:off x="2892462" y="703491"/>
            <a:ext cx="304800" cy="304800"/>
          </a:xfrm>
          <a:prstGeom prst="ellipse">
            <a:avLst/>
          </a:prstGeom>
          <a:solidFill>
            <a:srgbClr val="FFFFFF"/>
          </a:solidFill>
          <a:ln w="20955">
            <a:solidFill>
              <a:srgbClr val="1111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+</a:t>
            </a:r>
          </a:p>
        </p:txBody>
      </p:sp>
      <p:sp>
        <p:nvSpPr>
          <p:cNvPr id="17" name="Generation attention residual input">
            <a:extLst>
              <a:ext uri="{FF2B5EF4-FFF2-40B4-BE49-F238E27FC236}">
                <a16:creationId xmlns:a16="http://schemas.microsoft.com/office/drawing/2014/main" id="{222309DB-513E-434C-A806-A0195858ADFA}"/>
              </a:ext>
            </a:extLst>
          </p:cNvPr>
          <p:cNvSpPr>
            <a:spLocks noGrp="1"/>
          </p:cNvSpPr>
          <p:nvPr/>
        </p:nvSpPr>
        <p:spPr>
          <a:xfrm>
            <a:off x="3014382" y="8616861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Generation MLP residual input">
            <a:extLst>
              <a:ext uri="{FF2B5EF4-FFF2-40B4-BE49-F238E27FC236}">
                <a16:creationId xmlns:a16="http://schemas.microsoft.com/office/drawing/2014/main" id="{BF081199-E591-4961-9740-FDEBFF7C41E7}"/>
              </a:ext>
            </a:extLst>
          </p:cNvPr>
          <p:cNvSpPr>
            <a:spLocks noGrp="1"/>
          </p:cNvSpPr>
          <p:nvPr/>
        </p:nvSpPr>
        <p:spPr>
          <a:xfrm>
            <a:off x="3014382" y="2730411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8" name="Generation pre-attn to QKV"/>
          <p:cNvCxnSpPr>
            <a:stCxn id="6" idx="0"/>
            <a:endCxn id="7" idx="2"/>
          </p:cNvCxnSpPr>
          <p:nvPr/>
        </p:nvCxnSpPr>
        <p:spPr>
          <a:xfrm flipV="1">
            <a:off x="3044862" y="7523391"/>
            <a:ext cx="0" cy="314325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" name="Generation QK projections to norm start">
            <a:extLst>
              <a:ext uri="{FF2B5EF4-FFF2-40B4-BE49-F238E27FC236}">
                <a16:creationId xmlns:a16="http://schemas.microsoft.com/office/drawing/2014/main" id="{A4CF5680-F00F-41A5-8831-18359616B282}"/>
              </a:ext>
            </a:extLst>
          </p:cNvPr>
          <p:cNvSpPr>
            <a:spLocks noGrp="1"/>
          </p:cNvSpPr>
          <p:nvPr/>
        </p:nvSpPr>
        <p:spPr>
          <a:xfrm>
            <a:off x="2758636" y="70180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Generation QK projections to norm end">
            <a:extLst>
              <a:ext uri="{FF2B5EF4-FFF2-40B4-BE49-F238E27FC236}">
                <a16:creationId xmlns:a16="http://schemas.microsoft.com/office/drawing/2014/main" id="{4AF1A49F-6E44-4D0B-ABCB-8B2C08B2CA35}"/>
              </a:ext>
            </a:extLst>
          </p:cNvPr>
          <p:cNvSpPr>
            <a:spLocks noGrp="1"/>
          </p:cNvSpPr>
          <p:nvPr/>
        </p:nvSpPr>
        <p:spPr>
          <a:xfrm>
            <a:off x="2758636" y="665614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1" name="Generation QK projections to norm"/>
          <p:cNvCxnSpPr>
            <a:stCxn id="20" idx="0"/>
            <a:endCxn id="21" idx="0"/>
          </p:cNvCxnSpPr>
          <p:nvPr/>
        </p:nvCxnSpPr>
        <p:spPr>
          <a:xfrm flipV="1">
            <a:off x="2759113" y="6656140"/>
            <a:ext cx="0" cy="3619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2" name="Generation QK norm to RoPE"/>
          <p:cNvCxnSpPr>
            <a:stCxn id="8" idx="0"/>
            <a:endCxn id="9" idx="2"/>
          </p:cNvCxnSpPr>
          <p:nvPr/>
        </p:nvCxnSpPr>
        <p:spPr>
          <a:xfrm flipV="1">
            <a:off x="2759112" y="5856516"/>
            <a:ext cx="0" cy="3619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" name="Generation QK RoPE to attention start">
            <a:extLst>
              <a:ext uri="{FF2B5EF4-FFF2-40B4-BE49-F238E27FC236}">
                <a16:creationId xmlns:a16="http://schemas.microsoft.com/office/drawing/2014/main" id="{F6C4E5CD-BEEF-4DC5-ABBC-22A2457DBB35}"/>
              </a:ext>
            </a:extLst>
          </p:cNvPr>
          <p:cNvSpPr>
            <a:spLocks noGrp="1"/>
          </p:cNvSpPr>
          <p:nvPr/>
        </p:nvSpPr>
        <p:spPr>
          <a:xfrm>
            <a:off x="2758636" y="54178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Generation QK RoPE to attention end">
            <a:extLst>
              <a:ext uri="{FF2B5EF4-FFF2-40B4-BE49-F238E27FC236}">
                <a16:creationId xmlns:a16="http://schemas.microsoft.com/office/drawing/2014/main" id="{705A6E23-6E4B-4C3E-9547-EE694BF4D8EE}"/>
              </a:ext>
            </a:extLst>
          </p:cNvPr>
          <p:cNvSpPr>
            <a:spLocks noGrp="1"/>
          </p:cNvSpPr>
          <p:nvPr/>
        </p:nvSpPr>
        <p:spPr>
          <a:xfrm>
            <a:off x="2758636" y="501784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5" name="Generation QK RoPE to attention"/>
          <p:cNvCxnSpPr>
            <a:stCxn id="24" idx="0"/>
            <a:endCxn id="25" idx="0"/>
          </p:cNvCxnSpPr>
          <p:nvPr/>
        </p:nvCxnSpPr>
        <p:spPr>
          <a:xfrm flipV="1">
            <a:off x="2759113" y="5017840"/>
            <a:ext cx="0" cy="4000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7" name="Generation V bypasses normalization and RoPE start">
            <a:extLst>
              <a:ext uri="{FF2B5EF4-FFF2-40B4-BE49-F238E27FC236}">
                <a16:creationId xmlns:a16="http://schemas.microsoft.com/office/drawing/2014/main" id="{FBA7C105-4465-4FC6-AAEF-43574EC42C42}"/>
              </a:ext>
            </a:extLst>
          </p:cNvPr>
          <p:cNvSpPr>
            <a:spLocks noGrp="1"/>
          </p:cNvSpPr>
          <p:nvPr/>
        </p:nvSpPr>
        <p:spPr>
          <a:xfrm>
            <a:off x="4235011" y="70180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Generation V bypasses normalization and RoPE end">
            <a:extLst>
              <a:ext uri="{FF2B5EF4-FFF2-40B4-BE49-F238E27FC236}">
                <a16:creationId xmlns:a16="http://schemas.microsoft.com/office/drawing/2014/main" id="{4DD5ED87-8546-4DFC-A327-972D72CC5875}"/>
              </a:ext>
            </a:extLst>
          </p:cNvPr>
          <p:cNvSpPr>
            <a:spLocks noGrp="1"/>
          </p:cNvSpPr>
          <p:nvPr/>
        </p:nvSpPr>
        <p:spPr>
          <a:xfrm>
            <a:off x="4235011" y="501784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8" name="Generation V bypasses normalization and RoPE"/>
          <p:cNvCxnSpPr>
            <a:stCxn id="27" idx="0"/>
            <a:endCxn id="28" idx="0"/>
          </p:cNvCxnSpPr>
          <p:nvPr/>
        </p:nvCxnSpPr>
        <p:spPr>
          <a:xfrm flipV="1">
            <a:off x="4235488" y="5017840"/>
            <a:ext cx="0" cy="20002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" name="Generation QK edge label">
            <a:extLst>
              <a:ext uri="{FF2B5EF4-FFF2-40B4-BE49-F238E27FC236}">
                <a16:creationId xmlns:a16="http://schemas.microsoft.com/office/drawing/2014/main" id="{0D865DA1-DB22-4831-85B5-38DE97ED9888}"/>
              </a:ext>
            </a:extLst>
          </p:cNvPr>
          <p:cNvSpPr>
            <a:spLocks noGrp="1"/>
          </p:cNvSpPr>
          <p:nvPr/>
        </p:nvSpPr>
        <p:spPr>
          <a:xfrm>
            <a:off x="2060123" y="6686620"/>
            <a:ext cx="561975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Q</a:t>
            </a:r>
            <a:r>
              <a:rPr lang="zh-CN" altLang="en-US" sz="19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 </a:t>
            </a:r>
            <a:r>
              <a:rPr sz="19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,</a:t>
            </a:r>
            <a:r>
              <a:rPr lang="zh-CN" altLang="en-US" sz="19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  </a:t>
            </a:r>
            <a:r>
              <a:rPr sz="19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K</a:t>
            </a:r>
          </a:p>
        </p:txBody>
      </p:sp>
      <p:sp>
        <p:nvSpPr>
          <p:cNvPr id="31" name="Generation V edge label">
            <a:extLst>
              <a:ext uri="{FF2B5EF4-FFF2-40B4-BE49-F238E27FC236}">
                <a16:creationId xmlns:a16="http://schemas.microsoft.com/office/drawing/2014/main" id="{DF76B45A-E5BF-4BFB-8D52-63BF434FFA5B}"/>
              </a:ext>
            </a:extLst>
          </p:cNvPr>
          <p:cNvSpPr>
            <a:spLocks noGrp="1"/>
          </p:cNvSpPr>
          <p:nvPr/>
        </p:nvSpPr>
        <p:spPr>
          <a:xfrm>
            <a:off x="4292637" y="5770791"/>
            <a:ext cx="2667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V</a:t>
            </a:r>
          </a:p>
        </p:txBody>
      </p:sp>
      <p:sp>
        <p:nvSpPr>
          <p:cNvPr id="32" name="Generation attention to output projection start">
            <a:extLst>
              <a:ext uri="{FF2B5EF4-FFF2-40B4-BE49-F238E27FC236}">
                <a16:creationId xmlns:a16="http://schemas.microsoft.com/office/drawing/2014/main" id="{CC12C707-0592-42B2-AD5D-2A833EC1CA0E}"/>
              </a:ext>
            </a:extLst>
          </p:cNvPr>
          <p:cNvSpPr>
            <a:spLocks noGrp="1"/>
          </p:cNvSpPr>
          <p:nvPr/>
        </p:nvSpPr>
        <p:spPr>
          <a:xfrm>
            <a:off x="3044386" y="425584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Generation attention to output projection end">
            <a:extLst>
              <a:ext uri="{FF2B5EF4-FFF2-40B4-BE49-F238E27FC236}">
                <a16:creationId xmlns:a16="http://schemas.microsoft.com/office/drawing/2014/main" id="{F25E012C-3C93-4D8F-892F-8BDBA0F4A05E}"/>
              </a:ext>
            </a:extLst>
          </p:cNvPr>
          <p:cNvSpPr>
            <a:spLocks noGrp="1"/>
          </p:cNvSpPr>
          <p:nvPr/>
        </p:nvSpPr>
        <p:spPr>
          <a:xfrm>
            <a:off x="3044386" y="38557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83" name="Generation attention to output projection"/>
          <p:cNvCxnSpPr>
            <a:stCxn id="32" idx="0"/>
            <a:endCxn id="33" idx="0"/>
          </p:cNvCxnSpPr>
          <p:nvPr/>
        </p:nvCxnSpPr>
        <p:spPr>
          <a:xfrm flipV="1">
            <a:off x="3044863" y="3855790"/>
            <a:ext cx="0" cy="4000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4" name="Generation output projection to residual add"/>
          <p:cNvCxnSpPr>
            <a:cxnSpLocks/>
            <a:stCxn id="10" idx="0"/>
            <a:endCxn id="11" idx="4"/>
          </p:cNvCxnSpPr>
          <p:nvPr/>
        </p:nvCxnSpPr>
        <p:spPr>
          <a:xfrm flipV="1">
            <a:off x="3044862" y="3103791"/>
            <a:ext cx="0" cy="2476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5" name="Generation residual to pre-MLP"/>
          <p:cNvCxnSpPr>
            <a:cxnSpLocks/>
            <a:stCxn id="11" idx="0"/>
            <a:endCxn id="12" idx="2"/>
          </p:cNvCxnSpPr>
          <p:nvPr/>
        </p:nvCxnSpPr>
        <p:spPr>
          <a:xfrm flipV="1">
            <a:off x="3044862" y="2598966"/>
            <a:ext cx="0" cy="200025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tailEnd type="triangle" w="sm" len="sm"/>
          </a:ln>
        </p:spPr>
      </p:cxnSp>
      <p:sp>
        <p:nvSpPr>
          <p:cNvPr id="37" name="Generation pre-MLP to MLP start">
            <a:extLst>
              <a:ext uri="{FF2B5EF4-FFF2-40B4-BE49-F238E27FC236}">
                <a16:creationId xmlns:a16="http://schemas.microsoft.com/office/drawing/2014/main" id="{A69F03E9-9B71-4C23-AE72-D9345597145C}"/>
              </a:ext>
            </a:extLst>
          </p:cNvPr>
          <p:cNvSpPr>
            <a:spLocks noGrp="1"/>
          </p:cNvSpPr>
          <p:nvPr/>
        </p:nvSpPr>
        <p:spPr>
          <a:xfrm>
            <a:off x="3044386" y="20936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Generation pre-MLP to MLP end">
            <a:extLst>
              <a:ext uri="{FF2B5EF4-FFF2-40B4-BE49-F238E27FC236}">
                <a16:creationId xmlns:a16="http://schemas.microsoft.com/office/drawing/2014/main" id="{CE43D23C-8D5B-4672-9A9E-34F7107302FD}"/>
              </a:ext>
            </a:extLst>
          </p:cNvPr>
          <p:cNvSpPr>
            <a:spLocks noGrp="1"/>
          </p:cNvSpPr>
          <p:nvPr/>
        </p:nvSpPr>
        <p:spPr>
          <a:xfrm>
            <a:off x="3044386" y="18079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88" name="Generation pre-MLP to MLP"/>
          <p:cNvCxnSpPr>
            <a:stCxn id="37" idx="0"/>
            <a:endCxn id="38" idx="0"/>
          </p:cNvCxnSpPr>
          <p:nvPr/>
        </p:nvCxnSpPr>
        <p:spPr>
          <a:xfrm flipV="1">
            <a:off x="3044863" y="1807915"/>
            <a:ext cx="0" cy="2857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0" name="Generation MLP to final residual start">
            <a:extLst>
              <a:ext uri="{FF2B5EF4-FFF2-40B4-BE49-F238E27FC236}">
                <a16:creationId xmlns:a16="http://schemas.microsoft.com/office/drawing/2014/main" id="{451F1F83-A5E9-40FA-A86F-F0C32BB983EA}"/>
              </a:ext>
            </a:extLst>
          </p:cNvPr>
          <p:cNvSpPr>
            <a:spLocks noGrp="1"/>
          </p:cNvSpPr>
          <p:nvPr/>
        </p:nvSpPr>
        <p:spPr>
          <a:xfrm>
            <a:off x="3044386" y="11602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Generation MLP to final residual end">
            <a:extLst>
              <a:ext uri="{FF2B5EF4-FFF2-40B4-BE49-F238E27FC236}">
                <a16:creationId xmlns:a16="http://schemas.microsoft.com/office/drawing/2014/main" id="{3390DFB5-BF38-4953-9FD2-43938E773C00}"/>
              </a:ext>
            </a:extLst>
          </p:cNvPr>
          <p:cNvSpPr>
            <a:spLocks noGrp="1"/>
          </p:cNvSpPr>
          <p:nvPr/>
        </p:nvSpPr>
        <p:spPr>
          <a:xfrm>
            <a:off x="3044386" y="10078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1" name="Generation MLP to final residual"/>
          <p:cNvCxnSpPr>
            <a:stCxn id="40" idx="0"/>
            <a:endCxn id="41" idx="0"/>
          </p:cNvCxnSpPr>
          <p:nvPr/>
        </p:nvCxnSpPr>
        <p:spPr>
          <a:xfrm flipV="1">
            <a:off x="3044863" y="1007815"/>
            <a:ext cx="0" cy="15240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" name="Generation layer output start">
            <a:extLst>
              <a:ext uri="{FF2B5EF4-FFF2-40B4-BE49-F238E27FC236}">
                <a16:creationId xmlns:a16="http://schemas.microsoft.com/office/drawing/2014/main" id="{8B1C46A1-BC62-4275-991B-0BD876F7D530}"/>
              </a:ext>
            </a:extLst>
          </p:cNvPr>
          <p:cNvSpPr>
            <a:spLocks noGrp="1"/>
          </p:cNvSpPr>
          <p:nvPr/>
        </p:nvSpPr>
        <p:spPr>
          <a:xfrm>
            <a:off x="3044386" y="7030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4" name="Generation layer output"/>
          <p:cNvCxnSpPr>
            <a:cxnSpLocks/>
            <a:stCxn id="43" idx="0"/>
            <a:endCxn id="2" idx="2"/>
          </p:cNvCxnSpPr>
          <p:nvPr/>
        </p:nvCxnSpPr>
        <p:spPr>
          <a:xfrm flipH="1" flipV="1">
            <a:off x="3044862" y="474891"/>
            <a:ext cx="1" cy="228124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6" name="Generation token input to pre-attn start">
            <a:extLst>
              <a:ext uri="{FF2B5EF4-FFF2-40B4-BE49-F238E27FC236}">
                <a16:creationId xmlns:a16="http://schemas.microsoft.com/office/drawing/2014/main" id="{E8CF28DF-C59D-4B28-BB15-BC4E53FF1F84}"/>
              </a:ext>
            </a:extLst>
          </p:cNvPr>
          <p:cNvSpPr>
            <a:spLocks noGrp="1"/>
          </p:cNvSpPr>
          <p:nvPr/>
        </p:nvSpPr>
        <p:spPr>
          <a:xfrm>
            <a:off x="3044386" y="91897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Generation token input to pre-attn end">
            <a:extLst>
              <a:ext uri="{FF2B5EF4-FFF2-40B4-BE49-F238E27FC236}">
                <a16:creationId xmlns:a16="http://schemas.microsoft.com/office/drawing/2014/main" id="{87CBAE0C-FF7D-429F-B7D9-53531754356B}"/>
              </a:ext>
            </a:extLst>
          </p:cNvPr>
          <p:cNvSpPr>
            <a:spLocks noGrp="1"/>
          </p:cNvSpPr>
          <p:nvPr/>
        </p:nvSpPr>
        <p:spPr>
          <a:xfrm>
            <a:off x="3044386" y="83420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7" name="Generation token input to pre-attn"/>
          <p:cNvCxnSpPr>
            <a:stCxn id="46" idx="0"/>
            <a:endCxn id="47" idx="0"/>
          </p:cNvCxnSpPr>
          <p:nvPr/>
        </p:nvCxnSpPr>
        <p:spPr>
          <a:xfrm flipV="1">
            <a:off x="3044863" y="8342065"/>
            <a:ext cx="0" cy="847725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9" name="Generation attention residual bypass segment 1 start">
            <a:extLst>
              <a:ext uri="{FF2B5EF4-FFF2-40B4-BE49-F238E27FC236}">
                <a16:creationId xmlns:a16="http://schemas.microsoft.com/office/drawing/2014/main" id="{8FC005AA-FD47-45A8-B5FA-757C03D8472C}"/>
              </a:ext>
            </a:extLst>
          </p:cNvPr>
          <p:cNvSpPr>
            <a:spLocks noGrp="1"/>
          </p:cNvSpPr>
          <p:nvPr/>
        </p:nvSpPr>
        <p:spPr>
          <a:xfrm>
            <a:off x="3044386" y="86468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Generation attention residual bypass segment 1 end">
            <a:extLst>
              <a:ext uri="{FF2B5EF4-FFF2-40B4-BE49-F238E27FC236}">
                <a16:creationId xmlns:a16="http://schemas.microsoft.com/office/drawing/2014/main" id="{5828B49C-BA3D-4FB6-9C72-FC66BD4988A0}"/>
              </a:ext>
            </a:extLst>
          </p:cNvPr>
          <p:cNvSpPr>
            <a:spLocks noGrp="1"/>
          </p:cNvSpPr>
          <p:nvPr/>
        </p:nvSpPr>
        <p:spPr>
          <a:xfrm>
            <a:off x="1291786" y="86468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0" name="Generation attention residual bypass segment 1"/>
          <p:cNvCxnSpPr>
            <a:stCxn id="49" idx="0"/>
            <a:endCxn id="50" idx="0"/>
          </p:cNvCxnSpPr>
          <p:nvPr/>
        </p:nvCxnSpPr>
        <p:spPr>
          <a:xfrm flipH="1">
            <a:off x="1292263" y="8646865"/>
            <a:ext cx="1752600" cy="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52" name="Generation attention residual bypass segment 2 start">
            <a:extLst>
              <a:ext uri="{FF2B5EF4-FFF2-40B4-BE49-F238E27FC236}">
                <a16:creationId xmlns:a16="http://schemas.microsoft.com/office/drawing/2014/main" id="{71DAF56F-56F0-46DB-B9F3-49B50E8832B8}"/>
              </a:ext>
            </a:extLst>
          </p:cNvPr>
          <p:cNvSpPr>
            <a:spLocks noGrp="1"/>
          </p:cNvSpPr>
          <p:nvPr/>
        </p:nvSpPr>
        <p:spPr>
          <a:xfrm>
            <a:off x="1291786" y="86468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Generation attention residual bypass segment 2 end">
            <a:extLst>
              <a:ext uri="{FF2B5EF4-FFF2-40B4-BE49-F238E27FC236}">
                <a16:creationId xmlns:a16="http://schemas.microsoft.com/office/drawing/2014/main" id="{BD352371-37E1-4783-8FAB-2E17BA5534BC}"/>
              </a:ext>
            </a:extLst>
          </p:cNvPr>
          <p:cNvSpPr>
            <a:spLocks noGrp="1"/>
          </p:cNvSpPr>
          <p:nvPr/>
        </p:nvSpPr>
        <p:spPr>
          <a:xfrm>
            <a:off x="1291786" y="29509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3" name="Generation attention residual bypass segment 2"/>
          <p:cNvCxnSpPr>
            <a:stCxn id="52" idx="0"/>
            <a:endCxn id="53" idx="0"/>
          </p:cNvCxnSpPr>
          <p:nvPr/>
        </p:nvCxnSpPr>
        <p:spPr>
          <a:xfrm flipV="1">
            <a:off x="1292263" y="2950915"/>
            <a:ext cx="0" cy="56959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55" name="Generation attention residual bypass segment 3 start">
            <a:extLst>
              <a:ext uri="{FF2B5EF4-FFF2-40B4-BE49-F238E27FC236}">
                <a16:creationId xmlns:a16="http://schemas.microsoft.com/office/drawing/2014/main" id="{8F4200B8-7AB2-4ECE-90C0-8E5F67E05A62}"/>
              </a:ext>
            </a:extLst>
          </p:cNvPr>
          <p:cNvSpPr>
            <a:spLocks noGrp="1"/>
          </p:cNvSpPr>
          <p:nvPr/>
        </p:nvSpPr>
        <p:spPr>
          <a:xfrm>
            <a:off x="1291786" y="29509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Generation attention residual bypass segment 3 end">
            <a:extLst>
              <a:ext uri="{FF2B5EF4-FFF2-40B4-BE49-F238E27FC236}">
                <a16:creationId xmlns:a16="http://schemas.microsoft.com/office/drawing/2014/main" id="{5BF70AC7-823B-4D9D-ACC2-3CD19B20EB3A}"/>
              </a:ext>
            </a:extLst>
          </p:cNvPr>
          <p:cNvSpPr>
            <a:spLocks noGrp="1"/>
          </p:cNvSpPr>
          <p:nvPr/>
        </p:nvSpPr>
        <p:spPr>
          <a:xfrm>
            <a:off x="2891986" y="29509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6" name="Generation attention residual bypass segment 3"/>
          <p:cNvCxnSpPr>
            <a:stCxn id="55" idx="0"/>
            <a:endCxn id="56" idx="0"/>
          </p:cNvCxnSpPr>
          <p:nvPr/>
        </p:nvCxnSpPr>
        <p:spPr>
          <a:xfrm>
            <a:off x="1292263" y="2950915"/>
            <a:ext cx="1600200" cy="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8" name="Generation MLP residual bypass segment 1 start">
            <a:extLst>
              <a:ext uri="{FF2B5EF4-FFF2-40B4-BE49-F238E27FC236}">
                <a16:creationId xmlns:a16="http://schemas.microsoft.com/office/drawing/2014/main" id="{9A0C37E0-8619-4EDD-92C9-51FC56CB62FB}"/>
              </a:ext>
            </a:extLst>
          </p:cNvPr>
          <p:cNvSpPr>
            <a:spLocks noGrp="1"/>
          </p:cNvSpPr>
          <p:nvPr/>
        </p:nvSpPr>
        <p:spPr>
          <a:xfrm>
            <a:off x="3044386" y="2760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Generation MLP residual bypass segment 1 end">
            <a:extLst>
              <a:ext uri="{FF2B5EF4-FFF2-40B4-BE49-F238E27FC236}">
                <a16:creationId xmlns:a16="http://schemas.microsoft.com/office/drawing/2014/main" id="{D76FBF65-48D2-400A-8FF8-2724262F5DC6}"/>
              </a:ext>
            </a:extLst>
          </p:cNvPr>
          <p:cNvSpPr>
            <a:spLocks noGrp="1"/>
          </p:cNvSpPr>
          <p:nvPr/>
        </p:nvSpPr>
        <p:spPr>
          <a:xfrm>
            <a:off x="1463236" y="2760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9" name="Generation MLP residual bypass segment 1"/>
          <p:cNvCxnSpPr>
            <a:stCxn id="58" idx="0"/>
            <a:endCxn id="59" idx="0"/>
          </p:cNvCxnSpPr>
          <p:nvPr/>
        </p:nvCxnSpPr>
        <p:spPr>
          <a:xfrm flipH="1">
            <a:off x="1463713" y="2760415"/>
            <a:ext cx="1581150" cy="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" name="Generation MLP residual bypass segment 2 start">
            <a:extLst>
              <a:ext uri="{FF2B5EF4-FFF2-40B4-BE49-F238E27FC236}">
                <a16:creationId xmlns:a16="http://schemas.microsoft.com/office/drawing/2014/main" id="{F602F5A7-E3EC-48DE-93AC-155B1D43B8EA}"/>
              </a:ext>
            </a:extLst>
          </p:cNvPr>
          <p:cNvSpPr>
            <a:spLocks noGrp="1"/>
          </p:cNvSpPr>
          <p:nvPr/>
        </p:nvSpPr>
        <p:spPr>
          <a:xfrm>
            <a:off x="1463236" y="2760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Generation MLP residual bypass segment 2 end">
            <a:extLst>
              <a:ext uri="{FF2B5EF4-FFF2-40B4-BE49-F238E27FC236}">
                <a16:creationId xmlns:a16="http://schemas.microsoft.com/office/drawing/2014/main" id="{AB4B599E-A2EF-4E8D-8288-B64F0AFDF998}"/>
              </a:ext>
            </a:extLst>
          </p:cNvPr>
          <p:cNvSpPr>
            <a:spLocks noGrp="1"/>
          </p:cNvSpPr>
          <p:nvPr/>
        </p:nvSpPr>
        <p:spPr>
          <a:xfrm>
            <a:off x="1463236" y="855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2" name="Generation MLP residual bypass segment 2"/>
          <p:cNvCxnSpPr>
            <a:stCxn id="61" idx="0"/>
            <a:endCxn id="62" idx="0"/>
          </p:cNvCxnSpPr>
          <p:nvPr/>
        </p:nvCxnSpPr>
        <p:spPr>
          <a:xfrm flipV="1">
            <a:off x="1463713" y="855415"/>
            <a:ext cx="0" cy="190500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64" name="Generation MLP residual bypass segment 3 start">
            <a:extLst>
              <a:ext uri="{FF2B5EF4-FFF2-40B4-BE49-F238E27FC236}">
                <a16:creationId xmlns:a16="http://schemas.microsoft.com/office/drawing/2014/main" id="{0A564D03-4B75-43D1-BF49-28DC703FAA60}"/>
              </a:ext>
            </a:extLst>
          </p:cNvPr>
          <p:cNvSpPr>
            <a:spLocks noGrp="1"/>
          </p:cNvSpPr>
          <p:nvPr/>
        </p:nvSpPr>
        <p:spPr>
          <a:xfrm>
            <a:off x="1463236" y="855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Generation MLP residual bypass segment 3 end">
            <a:extLst>
              <a:ext uri="{FF2B5EF4-FFF2-40B4-BE49-F238E27FC236}">
                <a16:creationId xmlns:a16="http://schemas.microsoft.com/office/drawing/2014/main" id="{BE2D7F9E-C36C-4999-95F8-88A7A44A51B5}"/>
              </a:ext>
            </a:extLst>
          </p:cNvPr>
          <p:cNvSpPr>
            <a:spLocks noGrp="1"/>
          </p:cNvSpPr>
          <p:nvPr/>
        </p:nvSpPr>
        <p:spPr>
          <a:xfrm>
            <a:off x="2891986" y="855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5" name="Generation MLP residual bypass segment 3"/>
          <p:cNvCxnSpPr>
            <a:stCxn id="64" idx="0"/>
            <a:endCxn id="65" idx="0"/>
          </p:cNvCxnSpPr>
          <p:nvPr/>
        </p:nvCxnSpPr>
        <p:spPr>
          <a:xfrm>
            <a:off x="1463713" y="855415"/>
            <a:ext cx="1428750" cy="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7" name="Generation input tokens">
            <a:extLst>
              <a:ext uri="{FF2B5EF4-FFF2-40B4-BE49-F238E27FC236}">
                <a16:creationId xmlns:a16="http://schemas.microsoft.com/office/drawing/2014/main" id="{D09D6F93-3E03-4C9B-BD8E-560251F536D5}"/>
              </a:ext>
            </a:extLst>
          </p:cNvPr>
          <p:cNvSpPr>
            <a:spLocks noGrp="1"/>
          </p:cNvSpPr>
          <p:nvPr/>
        </p:nvSpPr>
        <p:spPr>
          <a:xfrm>
            <a:off x="1482762" y="9190266"/>
            <a:ext cx="3124200" cy="685800"/>
          </a:xfrm>
          <a:prstGeom prst="roundRect">
            <a:avLst>
              <a:gd name="adj" fmla="val 6944"/>
            </a:avLst>
          </a:prstGeom>
          <a:solidFill>
            <a:srgbClr val="F7DEDE"/>
          </a:solidFill>
          <a:ln w="21908">
            <a:solidFill>
              <a:srgbClr val="111111"/>
            </a:solidFill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Generation input label">
            <a:extLst>
              <a:ext uri="{FF2B5EF4-FFF2-40B4-BE49-F238E27FC236}">
                <a16:creationId xmlns:a16="http://schemas.microsoft.com/office/drawing/2014/main" id="{4520AA3B-7834-4733-9B9B-522039C7F6AD}"/>
              </a:ext>
            </a:extLst>
          </p:cNvPr>
          <p:cNvSpPr>
            <a:spLocks noGrp="1"/>
          </p:cNvSpPr>
          <p:nvPr/>
        </p:nvSpPr>
        <p:spPr>
          <a:xfrm>
            <a:off x="1520862" y="9356477"/>
            <a:ext cx="3048000" cy="314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VAE latent tokens</a:t>
            </a:r>
          </a:p>
        </p:txBody>
      </p:sp>
      <p:sp>
        <p:nvSpPr>
          <p:cNvPr id="69" name="Generation parameter partition">
            <a:extLst>
              <a:ext uri="{FF2B5EF4-FFF2-40B4-BE49-F238E27FC236}">
                <a16:creationId xmlns:a16="http://schemas.microsoft.com/office/drawing/2014/main" id="{FADA43FE-10DC-428D-8F87-4F5F8921AE0C}"/>
              </a:ext>
            </a:extLst>
          </p:cNvPr>
          <p:cNvSpPr>
            <a:spLocks noGrp="1"/>
          </p:cNvSpPr>
          <p:nvPr/>
        </p:nvSpPr>
        <p:spPr>
          <a:xfrm>
            <a:off x="1520862" y="9533166"/>
            <a:ext cx="3048000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endParaRPr sz="1950" dirty="0">
              <a:solidFill>
                <a:srgbClr val="111111"/>
              </a:solidFill>
              <a:latin typeface="Arial" panose="020B0604020202020204" pitchFamily="34" charset="0"/>
              <a:ea typeface="Times New Roman"/>
              <a:cs typeface="Arial" panose="020B0604020202020204" pitchFamily="34" charset="0"/>
            </a:endParaRPr>
          </a:p>
        </p:txBody>
      </p:sp>
      <p:sp>
        <p:nvSpPr>
          <p:cNvPr id="70" name="Understanding pre-attention RMSNorm">
            <a:extLst>
              <a:ext uri="{FF2B5EF4-FFF2-40B4-BE49-F238E27FC236}">
                <a16:creationId xmlns:a16="http://schemas.microsoft.com/office/drawing/2014/main" id="{2C053FE2-D014-4FEA-B14E-4FD94DE7F4E7}"/>
              </a:ext>
            </a:extLst>
          </p:cNvPr>
          <p:cNvSpPr>
            <a:spLocks noGrp="1"/>
          </p:cNvSpPr>
          <p:nvPr/>
        </p:nvSpPr>
        <p:spPr>
          <a:xfrm>
            <a:off x="4994048" y="7837716"/>
            <a:ext cx="2857500" cy="504825"/>
          </a:xfrm>
          <a:prstGeom prst="roundRect">
            <a:avLst>
              <a:gd name="adj" fmla="val 9434"/>
            </a:avLst>
          </a:prstGeom>
          <a:solidFill>
            <a:srgbClr val="F4F1BE"/>
          </a:solidFill>
          <a:ln w="28575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RMSNorm (Pre-attn)</a:t>
            </a:r>
          </a:p>
        </p:txBody>
      </p:sp>
      <p:sp>
        <p:nvSpPr>
          <p:cNvPr id="71" name="Understanding Q K V projections">
            <a:extLst>
              <a:ext uri="{FF2B5EF4-FFF2-40B4-BE49-F238E27FC236}">
                <a16:creationId xmlns:a16="http://schemas.microsoft.com/office/drawing/2014/main" id="{B90B3941-9BF5-4A27-A4B4-2C90C0B94296}"/>
              </a:ext>
            </a:extLst>
          </p:cNvPr>
          <p:cNvSpPr>
            <a:spLocks noGrp="1"/>
          </p:cNvSpPr>
          <p:nvPr/>
        </p:nvSpPr>
        <p:spPr>
          <a:xfrm>
            <a:off x="4994048" y="7018566"/>
            <a:ext cx="2857500" cy="504825"/>
          </a:xfrm>
          <a:prstGeom prst="roundRect">
            <a:avLst>
              <a:gd name="adj" fmla="val 9434"/>
            </a:avLst>
          </a:prstGeom>
          <a:solidFill>
            <a:srgbClr val="DDDFE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Q / K / V projections</a:t>
            </a:r>
          </a:p>
        </p:txBody>
      </p:sp>
      <p:sp>
        <p:nvSpPr>
          <p:cNvPr id="72" name="Understanding Q K normalization">
            <a:extLst>
              <a:ext uri="{FF2B5EF4-FFF2-40B4-BE49-F238E27FC236}">
                <a16:creationId xmlns:a16="http://schemas.microsoft.com/office/drawing/2014/main" id="{51E3D678-997B-4DC8-BE8E-0140D3792B37}"/>
              </a:ext>
            </a:extLst>
          </p:cNvPr>
          <p:cNvSpPr>
            <a:spLocks noGrp="1"/>
          </p:cNvSpPr>
          <p:nvPr/>
        </p:nvSpPr>
        <p:spPr>
          <a:xfrm>
            <a:off x="4994048" y="6218466"/>
            <a:ext cx="2286000" cy="438150"/>
          </a:xfrm>
          <a:prstGeom prst="roundRect">
            <a:avLst>
              <a:gd name="adj" fmla="val 10870"/>
            </a:avLst>
          </a:prstGeom>
          <a:solidFill>
            <a:srgbClr val="F4F1B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Q norm </a:t>
            </a:r>
            <a:r>
              <a:rPr lang="en-US" altLang="zh-CN" sz="21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&amp;</a:t>
            </a:r>
            <a:r>
              <a:rPr sz="21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 K norm</a:t>
            </a:r>
          </a:p>
        </p:txBody>
      </p:sp>
      <p:sp>
        <p:nvSpPr>
          <p:cNvPr id="73" name="Understanding rotary position embedding">
            <a:extLst>
              <a:ext uri="{FF2B5EF4-FFF2-40B4-BE49-F238E27FC236}">
                <a16:creationId xmlns:a16="http://schemas.microsoft.com/office/drawing/2014/main" id="{BBBF165B-8636-4B5B-8480-3B51CF51232B}"/>
              </a:ext>
            </a:extLst>
          </p:cNvPr>
          <p:cNvSpPr>
            <a:spLocks noGrp="1"/>
          </p:cNvSpPr>
          <p:nvPr/>
        </p:nvSpPr>
        <p:spPr>
          <a:xfrm>
            <a:off x="4994048" y="5418366"/>
            <a:ext cx="2286000" cy="438150"/>
          </a:xfrm>
          <a:prstGeom prst="roundRect">
            <a:avLst>
              <a:gd name="adj" fmla="val 10870"/>
            </a:avLst>
          </a:prstGeom>
          <a:solidFill>
            <a:srgbClr val="D2E8C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RoPE (Q, K)</a:t>
            </a:r>
          </a:p>
        </p:txBody>
      </p:sp>
      <p:sp>
        <p:nvSpPr>
          <p:cNvPr id="74" name="Understanding attention output projection">
            <a:extLst>
              <a:ext uri="{FF2B5EF4-FFF2-40B4-BE49-F238E27FC236}">
                <a16:creationId xmlns:a16="http://schemas.microsoft.com/office/drawing/2014/main" id="{92F183A1-ED87-42FB-B967-DF87CEDE1FE4}"/>
              </a:ext>
            </a:extLst>
          </p:cNvPr>
          <p:cNvSpPr>
            <a:spLocks noGrp="1"/>
          </p:cNvSpPr>
          <p:nvPr/>
        </p:nvSpPr>
        <p:spPr>
          <a:xfrm>
            <a:off x="4994048" y="3351441"/>
            <a:ext cx="2857500" cy="504825"/>
          </a:xfrm>
          <a:prstGeom prst="roundRect">
            <a:avLst>
              <a:gd name="adj" fmla="val 9434"/>
            </a:avLst>
          </a:prstGeom>
          <a:solidFill>
            <a:srgbClr val="DDDFE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Output projection</a:t>
            </a:r>
          </a:p>
        </p:txBody>
      </p:sp>
      <p:sp>
        <p:nvSpPr>
          <p:cNvPr id="75" name="Understanding attention residual add">
            <a:extLst>
              <a:ext uri="{FF2B5EF4-FFF2-40B4-BE49-F238E27FC236}">
                <a16:creationId xmlns:a16="http://schemas.microsoft.com/office/drawing/2014/main" id="{AE675A38-C79E-43EB-A15D-35724CD0D75E}"/>
              </a:ext>
            </a:extLst>
          </p:cNvPr>
          <p:cNvSpPr>
            <a:spLocks noGrp="1"/>
          </p:cNvSpPr>
          <p:nvPr/>
        </p:nvSpPr>
        <p:spPr>
          <a:xfrm>
            <a:off x="6270398" y="2798991"/>
            <a:ext cx="304800" cy="304800"/>
          </a:xfrm>
          <a:prstGeom prst="ellipse">
            <a:avLst/>
          </a:prstGeom>
          <a:solidFill>
            <a:srgbClr val="FFFFFF"/>
          </a:solidFill>
          <a:ln w="20955">
            <a:solidFill>
              <a:srgbClr val="1111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+</a:t>
            </a:r>
          </a:p>
        </p:txBody>
      </p:sp>
      <p:sp>
        <p:nvSpPr>
          <p:cNvPr id="76" name="Understanding pre-MLP RMSNorm">
            <a:extLst>
              <a:ext uri="{FF2B5EF4-FFF2-40B4-BE49-F238E27FC236}">
                <a16:creationId xmlns:a16="http://schemas.microsoft.com/office/drawing/2014/main" id="{5E8BADC5-2236-4986-8A64-CC243AF29A2A}"/>
              </a:ext>
            </a:extLst>
          </p:cNvPr>
          <p:cNvSpPr>
            <a:spLocks noGrp="1"/>
          </p:cNvSpPr>
          <p:nvPr/>
        </p:nvSpPr>
        <p:spPr>
          <a:xfrm>
            <a:off x="4994048" y="2094141"/>
            <a:ext cx="2857500" cy="504825"/>
          </a:xfrm>
          <a:prstGeom prst="roundRect">
            <a:avLst>
              <a:gd name="adj" fmla="val 9434"/>
            </a:avLst>
          </a:prstGeom>
          <a:solidFill>
            <a:srgbClr val="F4F1B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0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RMSNorm (Pre-MLP)</a:t>
            </a:r>
          </a:p>
        </p:txBody>
      </p:sp>
      <p:sp>
        <p:nvSpPr>
          <p:cNvPr id="77" name="Understanding MLP">
            <a:extLst>
              <a:ext uri="{FF2B5EF4-FFF2-40B4-BE49-F238E27FC236}">
                <a16:creationId xmlns:a16="http://schemas.microsoft.com/office/drawing/2014/main" id="{0A2D9349-E409-48FE-A7EB-B545A5FEE6FF}"/>
              </a:ext>
            </a:extLst>
          </p:cNvPr>
          <p:cNvSpPr>
            <a:spLocks noGrp="1"/>
          </p:cNvSpPr>
          <p:nvPr/>
        </p:nvSpPr>
        <p:spPr>
          <a:xfrm>
            <a:off x="4994048" y="1160691"/>
            <a:ext cx="2857500" cy="647700"/>
          </a:xfrm>
          <a:prstGeom prst="roundRect">
            <a:avLst>
              <a:gd name="adj" fmla="val 7353"/>
            </a:avLst>
          </a:prstGeom>
          <a:solidFill>
            <a:srgbClr val="C5E6F1"/>
          </a:solidFill>
          <a:ln w="38100">
            <a:solidFill>
              <a:srgbClr val="111111"/>
            </a:solidFill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Understanding MLP label">
            <a:extLst>
              <a:ext uri="{FF2B5EF4-FFF2-40B4-BE49-F238E27FC236}">
                <a16:creationId xmlns:a16="http://schemas.microsoft.com/office/drawing/2014/main" id="{741CBF52-1613-4C37-B39B-04C096DB08CA}"/>
              </a:ext>
            </a:extLst>
          </p:cNvPr>
          <p:cNvSpPr>
            <a:spLocks noGrp="1"/>
          </p:cNvSpPr>
          <p:nvPr/>
        </p:nvSpPr>
        <p:spPr>
          <a:xfrm>
            <a:off x="4993457" y="1238444"/>
            <a:ext cx="28575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MLP</a:t>
            </a:r>
          </a:p>
        </p:txBody>
      </p:sp>
      <p:sp>
        <p:nvSpPr>
          <p:cNvPr id="79" name="Understanding MLP sublayers">
            <a:extLst>
              <a:ext uri="{FF2B5EF4-FFF2-40B4-BE49-F238E27FC236}">
                <a16:creationId xmlns:a16="http://schemas.microsoft.com/office/drawing/2014/main" id="{11811A5B-31D7-4B4F-8B1A-E2751E9FCCD7}"/>
              </a:ext>
            </a:extLst>
          </p:cNvPr>
          <p:cNvSpPr>
            <a:spLocks noGrp="1"/>
          </p:cNvSpPr>
          <p:nvPr/>
        </p:nvSpPr>
        <p:spPr>
          <a:xfrm>
            <a:off x="4994048" y="1465491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Gate × Up → Down</a:t>
            </a:r>
          </a:p>
        </p:txBody>
      </p:sp>
      <p:sp>
        <p:nvSpPr>
          <p:cNvPr id="80" name="Understanding MLP residual add">
            <a:extLst>
              <a:ext uri="{FF2B5EF4-FFF2-40B4-BE49-F238E27FC236}">
                <a16:creationId xmlns:a16="http://schemas.microsoft.com/office/drawing/2014/main" id="{C6512B12-6272-4B61-820F-BD3A6DEA1BB9}"/>
              </a:ext>
            </a:extLst>
          </p:cNvPr>
          <p:cNvSpPr>
            <a:spLocks noGrp="1"/>
          </p:cNvSpPr>
          <p:nvPr/>
        </p:nvSpPr>
        <p:spPr>
          <a:xfrm>
            <a:off x="6270398" y="703491"/>
            <a:ext cx="304800" cy="304800"/>
          </a:xfrm>
          <a:prstGeom prst="ellipse">
            <a:avLst/>
          </a:prstGeom>
          <a:solidFill>
            <a:srgbClr val="FFFFFF"/>
          </a:solidFill>
          <a:ln w="20955">
            <a:solidFill>
              <a:srgbClr val="1111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+</a:t>
            </a:r>
          </a:p>
        </p:txBody>
      </p:sp>
      <p:sp>
        <p:nvSpPr>
          <p:cNvPr id="81" name="Understanding attention residual input">
            <a:extLst>
              <a:ext uri="{FF2B5EF4-FFF2-40B4-BE49-F238E27FC236}">
                <a16:creationId xmlns:a16="http://schemas.microsoft.com/office/drawing/2014/main" id="{AA4CC722-691E-4F45-87AB-779BB9D6FB1E}"/>
              </a:ext>
            </a:extLst>
          </p:cNvPr>
          <p:cNvSpPr>
            <a:spLocks noGrp="1"/>
          </p:cNvSpPr>
          <p:nvPr/>
        </p:nvSpPr>
        <p:spPr>
          <a:xfrm>
            <a:off x="6392318" y="8616861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Understanding MLP residual input">
            <a:extLst>
              <a:ext uri="{FF2B5EF4-FFF2-40B4-BE49-F238E27FC236}">
                <a16:creationId xmlns:a16="http://schemas.microsoft.com/office/drawing/2014/main" id="{B744D610-3605-46C7-A387-C44EEDC900FF}"/>
              </a:ext>
            </a:extLst>
          </p:cNvPr>
          <p:cNvSpPr>
            <a:spLocks noGrp="1"/>
          </p:cNvSpPr>
          <p:nvPr/>
        </p:nvSpPr>
        <p:spPr>
          <a:xfrm>
            <a:off x="6392318" y="2730411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2" name="Understanding pre-attn to QKV"/>
          <p:cNvCxnSpPr>
            <a:stCxn id="70" idx="0"/>
            <a:endCxn id="71" idx="2"/>
          </p:cNvCxnSpPr>
          <p:nvPr/>
        </p:nvCxnSpPr>
        <p:spPr>
          <a:xfrm flipV="1">
            <a:off x="6422798" y="7523391"/>
            <a:ext cx="0" cy="314325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" name="Understanding QK projections to norm start">
            <a:extLst>
              <a:ext uri="{FF2B5EF4-FFF2-40B4-BE49-F238E27FC236}">
                <a16:creationId xmlns:a16="http://schemas.microsoft.com/office/drawing/2014/main" id="{924C2CF8-4593-4BA5-8D9F-9AEF1AFBEC55}"/>
              </a:ext>
            </a:extLst>
          </p:cNvPr>
          <p:cNvSpPr>
            <a:spLocks noGrp="1"/>
          </p:cNvSpPr>
          <p:nvPr/>
        </p:nvSpPr>
        <p:spPr>
          <a:xfrm>
            <a:off x="6136572" y="70180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Understanding QK projections to norm end">
            <a:extLst>
              <a:ext uri="{FF2B5EF4-FFF2-40B4-BE49-F238E27FC236}">
                <a16:creationId xmlns:a16="http://schemas.microsoft.com/office/drawing/2014/main" id="{F3525F09-9A29-4D7A-8677-3344DCA36452}"/>
              </a:ext>
            </a:extLst>
          </p:cNvPr>
          <p:cNvSpPr>
            <a:spLocks noGrp="1"/>
          </p:cNvSpPr>
          <p:nvPr/>
        </p:nvSpPr>
        <p:spPr>
          <a:xfrm>
            <a:off x="6136572" y="665614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5" name="Understanding QK projections to norm"/>
          <p:cNvCxnSpPr>
            <a:stCxn id="84" idx="0"/>
            <a:endCxn id="85" idx="0"/>
          </p:cNvCxnSpPr>
          <p:nvPr/>
        </p:nvCxnSpPr>
        <p:spPr>
          <a:xfrm flipV="1">
            <a:off x="6137049" y="6656140"/>
            <a:ext cx="0" cy="3619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6" name="Understanding QK norm to RoPE"/>
          <p:cNvCxnSpPr>
            <a:stCxn id="72" idx="0"/>
            <a:endCxn id="73" idx="2"/>
          </p:cNvCxnSpPr>
          <p:nvPr/>
        </p:nvCxnSpPr>
        <p:spPr>
          <a:xfrm flipV="1">
            <a:off x="6137048" y="5856516"/>
            <a:ext cx="0" cy="3619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" name="Understanding QK RoPE to attention start">
            <a:extLst>
              <a:ext uri="{FF2B5EF4-FFF2-40B4-BE49-F238E27FC236}">
                <a16:creationId xmlns:a16="http://schemas.microsoft.com/office/drawing/2014/main" id="{FF7A1C1B-7A73-4B5F-86BC-E3B6CBB128CF}"/>
              </a:ext>
            </a:extLst>
          </p:cNvPr>
          <p:cNvSpPr>
            <a:spLocks noGrp="1"/>
          </p:cNvSpPr>
          <p:nvPr/>
        </p:nvSpPr>
        <p:spPr>
          <a:xfrm>
            <a:off x="6136572" y="54178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Understanding QK RoPE to attention end">
            <a:extLst>
              <a:ext uri="{FF2B5EF4-FFF2-40B4-BE49-F238E27FC236}">
                <a16:creationId xmlns:a16="http://schemas.microsoft.com/office/drawing/2014/main" id="{89EC61C9-2705-4142-8D2B-1C72F6B494DB}"/>
              </a:ext>
            </a:extLst>
          </p:cNvPr>
          <p:cNvSpPr>
            <a:spLocks noGrp="1"/>
          </p:cNvSpPr>
          <p:nvPr/>
        </p:nvSpPr>
        <p:spPr>
          <a:xfrm>
            <a:off x="6136572" y="501784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9" name="Understanding QK RoPE to attention"/>
          <p:cNvCxnSpPr>
            <a:stCxn id="88" idx="0"/>
            <a:endCxn id="89" idx="0"/>
          </p:cNvCxnSpPr>
          <p:nvPr/>
        </p:nvCxnSpPr>
        <p:spPr>
          <a:xfrm flipV="1">
            <a:off x="6137049" y="5017840"/>
            <a:ext cx="0" cy="4000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1" name="Understanding V bypasses normalization and RoPE start">
            <a:extLst>
              <a:ext uri="{FF2B5EF4-FFF2-40B4-BE49-F238E27FC236}">
                <a16:creationId xmlns:a16="http://schemas.microsoft.com/office/drawing/2014/main" id="{3B4F624A-9103-475D-AE92-D606BC8A68A3}"/>
              </a:ext>
            </a:extLst>
          </p:cNvPr>
          <p:cNvSpPr>
            <a:spLocks noGrp="1"/>
          </p:cNvSpPr>
          <p:nvPr/>
        </p:nvSpPr>
        <p:spPr>
          <a:xfrm>
            <a:off x="7612947" y="70180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Understanding V bypasses normalization and RoPE end">
            <a:extLst>
              <a:ext uri="{FF2B5EF4-FFF2-40B4-BE49-F238E27FC236}">
                <a16:creationId xmlns:a16="http://schemas.microsoft.com/office/drawing/2014/main" id="{ACD6E387-B31D-4BCE-A229-5AAB00295F3B}"/>
              </a:ext>
            </a:extLst>
          </p:cNvPr>
          <p:cNvSpPr>
            <a:spLocks noGrp="1"/>
          </p:cNvSpPr>
          <p:nvPr/>
        </p:nvSpPr>
        <p:spPr>
          <a:xfrm>
            <a:off x="7612947" y="501784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2" name="Understanding V bypasses normalization and RoPE"/>
          <p:cNvCxnSpPr>
            <a:stCxn id="91" idx="0"/>
            <a:endCxn id="92" idx="0"/>
          </p:cNvCxnSpPr>
          <p:nvPr/>
        </p:nvCxnSpPr>
        <p:spPr>
          <a:xfrm flipV="1">
            <a:off x="7613424" y="5017840"/>
            <a:ext cx="0" cy="20002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" name="Understanding QK edge label">
            <a:extLst>
              <a:ext uri="{FF2B5EF4-FFF2-40B4-BE49-F238E27FC236}">
                <a16:creationId xmlns:a16="http://schemas.microsoft.com/office/drawing/2014/main" id="{BE6AC1D1-2A8D-4D12-89CD-BDB3E9AECEB7}"/>
              </a:ext>
            </a:extLst>
          </p:cNvPr>
          <p:cNvSpPr>
            <a:spLocks noGrp="1"/>
          </p:cNvSpPr>
          <p:nvPr/>
        </p:nvSpPr>
        <p:spPr>
          <a:xfrm>
            <a:off x="5456011" y="6694239"/>
            <a:ext cx="561975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Q</a:t>
            </a:r>
            <a:r>
              <a:rPr lang="zh-CN" altLang="en-US" sz="19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 </a:t>
            </a:r>
            <a:r>
              <a:rPr sz="19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,</a:t>
            </a:r>
            <a:r>
              <a:rPr lang="zh-CN" altLang="en-US" sz="19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 </a:t>
            </a:r>
            <a:r>
              <a:rPr sz="195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 K</a:t>
            </a:r>
          </a:p>
        </p:txBody>
      </p:sp>
      <p:sp>
        <p:nvSpPr>
          <p:cNvPr id="95" name="Understanding V edge label">
            <a:extLst>
              <a:ext uri="{FF2B5EF4-FFF2-40B4-BE49-F238E27FC236}">
                <a16:creationId xmlns:a16="http://schemas.microsoft.com/office/drawing/2014/main" id="{2AC73A19-4707-4794-994C-E63E13762B23}"/>
              </a:ext>
            </a:extLst>
          </p:cNvPr>
          <p:cNvSpPr>
            <a:spLocks noGrp="1"/>
          </p:cNvSpPr>
          <p:nvPr/>
        </p:nvSpPr>
        <p:spPr>
          <a:xfrm>
            <a:off x="7670573" y="5770791"/>
            <a:ext cx="2667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V</a:t>
            </a:r>
          </a:p>
        </p:txBody>
      </p:sp>
      <p:sp>
        <p:nvSpPr>
          <p:cNvPr id="96" name="Understanding attention to output projection start">
            <a:extLst>
              <a:ext uri="{FF2B5EF4-FFF2-40B4-BE49-F238E27FC236}">
                <a16:creationId xmlns:a16="http://schemas.microsoft.com/office/drawing/2014/main" id="{97C45020-7FDA-4327-94B3-B97A22364B42}"/>
              </a:ext>
            </a:extLst>
          </p:cNvPr>
          <p:cNvSpPr>
            <a:spLocks noGrp="1"/>
          </p:cNvSpPr>
          <p:nvPr/>
        </p:nvSpPr>
        <p:spPr>
          <a:xfrm>
            <a:off x="6422322" y="425584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Understanding attention to output projection end">
            <a:extLst>
              <a:ext uri="{FF2B5EF4-FFF2-40B4-BE49-F238E27FC236}">
                <a16:creationId xmlns:a16="http://schemas.microsoft.com/office/drawing/2014/main" id="{5D960E11-22AB-425D-A5EB-3D486D1EE455}"/>
              </a:ext>
            </a:extLst>
          </p:cNvPr>
          <p:cNvSpPr>
            <a:spLocks noGrp="1"/>
          </p:cNvSpPr>
          <p:nvPr/>
        </p:nvSpPr>
        <p:spPr>
          <a:xfrm>
            <a:off x="6422322" y="38557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7" name="Understanding attention to output projection"/>
          <p:cNvCxnSpPr>
            <a:stCxn id="96" idx="0"/>
            <a:endCxn id="97" idx="0"/>
          </p:cNvCxnSpPr>
          <p:nvPr/>
        </p:nvCxnSpPr>
        <p:spPr>
          <a:xfrm flipV="1">
            <a:off x="6422799" y="3855790"/>
            <a:ext cx="0" cy="4000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Understanding output projection to residual add"/>
          <p:cNvCxnSpPr>
            <a:cxnSpLocks/>
            <a:stCxn id="74" idx="0"/>
            <a:endCxn id="75" idx="4"/>
          </p:cNvCxnSpPr>
          <p:nvPr/>
        </p:nvCxnSpPr>
        <p:spPr>
          <a:xfrm flipV="1">
            <a:off x="6422798" y="3103791"/>
            <a:ext cx="0" cy="2476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9" name="Understanding residual to pre-MLP"/>
          <p:cNvCxnSpPr>
            <a:stCxn id="75" idx="0"/>
            <a:endCxn id="76" idx="2"/>
          </p:cNvCxnSpPr>
          <p:nvPr/>
        </p:nvCxnSpPr>
        <p:spPr>
          <a:xfrm flipV="1">
            <a:off x="6422798" y="2598966"/>
            <a:ext cx="0" cy="200025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1" name="Understanding pre-MLP to MLP start">
            <a:extLst>
              <a:ext uri="{FF2B5EF4-FFF2-40B4-BE49-F238E27FC236}">
                <a16:creationId xmlns:a16="http://schemas.microsoft.com/office/drawing/2014/main" id="{3A5188D0-5BA2-48BE-84F3-AD234575F4D3}"/>
              </a:ext>
            </a:extLst>
          </p:cNvPr>
          <p:cNvSpPr>
            <a:spLocks noGrp="1"/>
          </p:cNvSpPr>
          <p:nvPr/>
        </p:nvSpPr>
        <p:spPr>
          <a:xfrm>
            <a:off x="6422322" y="20936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Understanding pre-MLP to MLP end">
            <a:extLst>
              <a:ext uri="{FF2B5EF4-FFF2-40B4-BE49-F238E27FC236}">
                <a16:creationId xmlns:a16="http://schemas.microsoft.com/office/drawing/2014/main" id="{BD1D7422-410B-4ED6-A225-8D720C07CBA8}"/>
              </a:ext>
            </a:extLst>
          </p:cNvPr>
          <p:cNvSpPr>
            <a:spLocks noGrp="1"/>
          </p:cNvSpPr>
          <p:nvPr/>
        </p:nvSpPr>
        <p:spPr>
          <a:xfrm>
            <a:off x="6422322" y="18079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2" name="Understanding pre-MLP to MLP"/>
          <p:cNvCxnSpPr>
            <a:stCxn id="101" idx="0"/>
            <a:endCxn id="102" idx="0"/>
          </p:cNvCxnSpPr>
          <p:nvPr/>
        </p:nvCxnSpPr>
        <p:spPr>
          <a:xfrm flipV="1">
            <a:off x="6422799" y="1807915"/>
            <a:ext cx="0" cy="2857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4" name="Understanding MLP to final residual start">
            <a:extLst>
              <a:ext uri="{FF2B5EF4-FFF2-40B4-BE49-F238E27FC236}">
                <a16:creationId xmlns:a16="http://schemas.microsoft.com/office/drawing/2014/main" id="{9F678383-9A1A-49A0-B0BE-9C1CE5A7F369}"/>
              </a:ext>
            </a:extLst>
          </p:cNvPr>
          <p:cNvSpPr>
            <a:spLocks noGrp="1"/>
          </p:cNvSpPr>
          <p:nvPr/>
        </p:nvSpPr>
        <p:spPr>
          <a:xfrm>
            <a:off x="6422322" y="11602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Understanding MLP to final residual end">
            <a:extLst>
              <a:ext uri="{FF2B5EF4-FFF2-40B4-BE49-F238E27FC236}">
                <a16:creationId xmlns:a16="http://schemas.microsoft.com/office/drawing/2014/main" id="{8E89E3A8-D293-4F36-A7FC-ED4F2EC6B4CF}"/>
              </a:ext>
            </a:extLst>
          </p:cNvPr>
          <p:cNvSpPr>
            <a:spLocks noGrp="1"/>
          </p:cNvSpPr>
          <p:nvPr/>
        </p:nvSpPr>
        <p:spPr>
          <a:xfrm>
            <a:off x="6422322" y="10078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5" name="Understanding MLP to final residual"/>
          <p:cNvCxnSpPr>
            <a:stCxn id="104" idx="0"/>
            <a:endCxn id="105" idx="0"/>
          </p:cNvCxnSpPr>
          <p:nvPr/>
        </p:nvCxnSpPr>
        <p:spPr>
          <a:xfrm flipV="1">
            <a:off x="6422799" y="1007815"/>
            <a:ext cx="0" cy="152400"/>
          </a:xfrm>
          <a:prstGeom prst="straightConnector1">
            <a:avLst/>
          </a:prstGeom>
          <a:ln w="2095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" name="Understanding layer output start">
            <a:extLst>
              <a:ext uri="{FF2B5EF4-FFF2-40B4-BE49-F238E27FC236}">
                <a16:creationId xmlns:a16="http://schemas.microsoft.com/office/drawing/2014/main" id="{6E2C48C1-85DC-436E-B045-00DD1B4AA664}"/>
              </a:ext>
            </a:extLst>
          </p:cNvPr>
          <p:cNvSpPr>
            <a:spLocks noGrp="1"/>
          </p:cNvSpPr>
          <p:nvPr/>
        </p:nvSpPr>
        <p:spPr>
          <a:xfrm>
            <a:off x="6422322" y="7030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Understanding layer output end">
            <a:extLst>
              <a:ext uri="{FF2B5EF4-FFF2-40B4-BE49-F238E27FC236}">
                <a16:creationId xmlns:a16="http://schemas.microsoft.com/office/drawing/2014/main" id="{9DAAC852-BDCA-4647-8A50-B0F6DF5CF129}"/>
              </a:ext>
            </a:extLst>
          </p:cNvPr>
          <p:cNvSpPr>
            <a:spLocks noGrp="1"/>
          </p:cNvSpPr>
          <p:nvPr/>
        </p:nvSpPr>
        <p:spPr>
          <a:xfrm>
            <a:off x="6422322" y="5125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8" name="Understanding layer output"/>
          <p:cNvCxnSpPr>
            <a:cxnSpLocks/>
            <a:stCxn id="107" idx="0"/>
            <a:endCxn id="3" idx="2"/>
          </p:cNvCxnSpPr>
          <p:nvPr/>
        </p:nvCxnSpPr>
        <p:spPr>
          <a:xfrm flipH="1" flipV="1">
            <a:off x="6422798" y="474891"/>
            <a:ext cx="1" cy="228124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" name="Understanding token input to pre-attn start">
            <a:extLst>
              <a:ext uri="{FF2B5EF4-FFF2-40B4-BE49-F238E27FC236}">
                <a16:creationId xmlns:a16="http://schemas.microsoft.com/office/drawing/2014/main" id="{20FFAB19-A6DF-4EA3-8CA7-B5429027F872}"/>
              </a:ext>
            </a:extLst>
          </p:cNvPr>
          <p:cNvSpPr>
            <a:spLocks noGrp="1"/>
          </p:cNvSpPr>
          <p:nvPr/>
        </p:nvSpPr>
        <p:spPr>
          <a:xfrm>
            <a:off x="6422322" y="91897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Understanding token input to pre-attn end">
            <a:extLst>
              <a:ext uri="{FF2B5EF4-FFF2-40B4-BE49-F238E27FC236}">
                <a16:creationId xmlns:a16="http://schemas.microsoft.com/office/drawing/2014/main" id="{F872276F-77AD-4D9C-B864-D49175A5D286}"/>
              </a:ext>
            </a:extLst>
          </p:cNvPr>
          <p:cNvSpPr>
            <a:spLocks noGrp="1"/>
          </p:cNvSpPr>
          <p:nvPr/>
        </p:nvSpPr>
        <p:spPr>
          <a:xfrm>
            <a:off x="6422322" y="83420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61" name="Understanding token input to pre-attn"/>
          <p:cNvCxnSpPr>
            <a:stCxn id="110" idx="0"/>
            <a:endCxn id="111" idx="0"/>
          </p:cNvCxnSpPr>
          <p:nvPr/>
        </p:nvCxnSpPr>
        <p:spPr>
          <a:xfrm flipV="1">
            <a:off x="6422799" y="8342065"/>
            <a:ext cx="0" cy="847725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" name="Understanding attention residual bypass segment 1 start">
            <a:extLst>
              <a:ext uri="{FF2B5EF4-FFF2-40B4-BE49-F238E27FC236}">
                <a16:creationId xmlns:a16="http://schemas.microsoft.com/office/drawing/2014/main" id="{61842222-522D-4092-813C-F0693ED342F1}"/>
              </a:ext>
            </a:extLst>
          </p:cNvPr>
          <p:cNvSpPr>
            <a:spLocks noGrp="1"/>
          </p:cNvSpPr>
          <p:nvPr/>
        </p:nvSpPr>
        <p:spPr>
          <a:xfrm>
            <a:off x="6422322" y="86468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Understanding attention residual bypass segment 1 end">
            <a:extLst>
              <a:ext uri="{FF2B5EF4-FFF2-40B4-BE49-F238E27FC236}">
                <a16:creationId xmlns:a16="http://schemas.microsoft.com/office/drawing/2014/main" id="{F3EB141D-884D-4F80-88CD-128D3208D29B}"/>
              </a:ext>
            </a:extLst>
          </p:cNvPr>
          <p:cNvSpPr>
            <a:spLocks noGrp="1"/>
          </p:cNvSpPr>
          <p:nvPr/>
        </p:nvSpPr>
        <p:spPr>
          <a:xfrm>
            <a:off x="8174922" y="86468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64" name="Understanding attention residual bypass segment 1"/>
          <p:cNvCxnSpPr>
            <a:stCxn id="113" idx="0"/>
            <a:endCxn id="114" idx="0"/>
          </p:cNvCxnSpPr>
          <p:nvPr/>
        </p:nvCxnSpPr>
        <p:spPr>
          <a:xfrm>
            <a:off x="6422799" y="8646865"/>
            <a:ext cx="1752600" cy="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16" name="Understanding attention residual bypass segment 2 start">
            <a:extLst>
              <a:ext uri="{FF2B5EF4-FFF2-40B4-BE49-F238E27FC236}">
                <a16:creationId xmlns:a16="http://schemas.microsoft.com/office/drawing/2014/main" id="{58AEFB34-9A7C-4B9E-BE9E-14168FC43296}"/>
              </a:ext>
            </a:extLst>
          </p:cNvPr>
          <p:cNvSpPr>
            <a:spLocks noGrp="1"/>
          </p:cNvSpPr>
          <p:nvPr/>
        </p:nvSpPr>
        <p:spPr>
          <a:xfrm>
            <a:off x="8174922" y="86468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Understanding attention residual bypass segment 2 end">
            <a:extLst>
              <a:ext uri="{FF2B5EF4-FFF2-40B4-BE49-F238E27FC236}">
                <a16:creationId xmlns:a16="http://schemas.microsoft.com/office/drawing/2014/main" id="{AD017E56-2BDF-4A54-8107-C9FBD1AEFB71}"/>
              </a:ext>
            </a:extLst>
          </p:cNvPr>
          <p:cNvSpPr>
            <a:spLocks noGrp="1"/>
          </p:cNvSpPr>
          <p:nvPr/>
        </p:nvSpPr>
        <p:spPr>
          <a:xfrm>
            <a:off x="8174922" y="29509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67" name="Understanding attention residual bypass segment 2"/>
          <p:cNvCxnSpPr>
            <a:stCxn id="116" idx="0"/>
            <a:endCxn id="117" idx="0"/>
          </p:cNvCxnSpPr>
          <p:nvPr/>
        </p:nvCxnSpPr>
        <p:spPr>
          <a:xfrm flipV="1">
            <a:off x="8175399" y="2950915"/>
            <a:ext cx="0" cy="569595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19" name="Understanding attention residual bypass segment 3 start">
            <a:extLst>
              <a:ext uri="{FF2B5EF4-FFF2-40B4-BE49-F238E27FC236}">
                <a16:creationId xmlns:a16="http://schemas.microsoft.com/office/drawing/2014/main" id="{C0F872B9-24F4-4E40-85C8-477A8F884178}"/>
              </a:ext>
            </a:extLst>
          </p:cNvPr>
          <p:cNvSpPr>
            <a:spLocks noGrp="1"/>
          </p:cNvSpPr>
          <p:nvPr/>
        </p:nvSpPr>
        <p:spPr>
          <a:xfrm>
            <a:off x="8174922" y="29509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Understanding attention residual bypass segment 3 end">
            <a:extLst>
              <a:ext uri="{FF2B5EF4-FFF2-40B4-BE49-F238E27FC236}">
                <a16:creationId xmlns:a16="http://schemas.microsoft.com/office/drawing/2014/main" id="{0DB876ED-0D61-494D-8C76-6B73E4EA14CD}"/>
              </a:ext>
            </a:extLst>
          </p:cNvPr>
          <p:cNvSpPr>
            <a:spLocks noGrp="1"/>
          </p:cNvSpPr>
          <p:nvPr/>
        </p:nvSpPr>
        <p:spPr>
          <a:xfrm>
            <a:off x="6574722" y="29509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0" name="Understanding attention residual bypass segment 3"/>
          <p:cNvCxnSpPr>
            <a:stCxn id="119" idx="0"/>
            <a:endCxn id="120" idx="0"/>
          </p:cNvCxnSpPr>
          <p:nvPr/>
        </p:nvCxnSpPr>
        <p:spPr>
          <a:xfrm flipH="1">
            <a:off x="6575199" y="2950915"/>
            <a:ext cx="1600200" cy="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2" name="Understanding MLP residual bypass segment 1 start">
            <a:extLst>
              <a:ext uri="{FF2B5EF4-FFF2-40B4-BE49-F238E27FC236}">
                <a16:creationId xmlns:a16="http://schemas.microsoft.com/office/drawing/2014/main" id="{C1EDE4E8-7BD6-4775-9B2F-051C091A1D60}"/>
              </a:ext>
            </a:extLst>
          </p:cNvPr>
          <p:cNvSpPr>
            <a:spLocks noGrp="1"/>
          </p:cNvSpPr>
          <p:nvPr/>
        </p:nvSpPr>
        <p:spPr>
          <a:xfrm>
            <a:off x="6422322" y="2760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3" name="Understanding MLP residual bypass segment 1 end">
            <a:extLst>
              <a:ext uri="{FF2B5EF4-FFF2-40B4-BE49-F238E27FC236}">
                <a16:creationId xmlns:a16="http://schemas.microsoft.com/office/drawing/2014/main" id="{010DCC7C-C05C-48A0-AEEC-781737CB8CCC}"/>
              </a:ext>
            </a:extLst>
          </p:cNvPr>
          <p:cNvSpPr>
            <a:spLocks noGrp="1"/>
          </p:cNvSpPr>
          <p:nvPr/>
        </p:nvSpPr>
        <p:spPr>
          <a:xfrm>
            <a:off x="8003472" y="2760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3" name="Understanding MLP residual bypass segment 1"/>
          <p:cNvCxnSpPr>
            <a:stCxn id="122" idx="0"/>
            <a:endCxn id="123" idx="0"/>
          </p:cNvCxnSpPr>
          <p:nvPr/>
        </p:nvCxnSpPr>
        <p:spPr>
          <a:xfrm>
            <a:off x="6422799" y="2760415"/>
            <a:ext cx="1581150" cy="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25" name="Understanding MLP residual bypass segment 2 start">
            <a:extLst>
              <a:ext uri="{FF2B5EF4-FFF2-40B4-BE49-F238E27FC236}">
                <a16:creationId xmlns:a16="http://schemas.microsoft.com/office/drawing/2014/main" id="{DECE4170-7B5D-42BB-B944-DCF97C8EE3D8}"/>
              </a:ext>
            </a:extLst>
          </p:cNvPr>
          <p:cNvSpPr>
            <a:spLocks noGrp="1"/>
          </p:cNvSpPr>
          <p:nvPr/>
        </p:nvSpPr>
        <p:spPr>
          <a:xfrm>
            <a:off x="8003472" y="2760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Understanding MLP residual bypass segment 2 end">
            <a:extLst>
              <a:ext uri="{FF2B5EF4-FFF2-40B4-BE49-F238E27FC236}">
                <a16:creationId xmlns:a16="http://schemas.microsoft.com/office/drawing/2014/main" id="{666B1B1E-0F24-4FF8-8283-16B1D3E60679}"/>
              </a:ext>
            </a:extLst>
          </p:cNvPr>
          <p:cNvSpPr>
            <a:spLocks noGrp="1"/>
          </p:cNvSpPr>
          <p:nvPr/>
        </p:nvSpPr>
        <p:spPr>
          <a:xfrm>
            <a:off x="8003472" y="855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6" name="Understanding MLP residual bypass segment 2"/>
          <p:cNvCxnSpPr>
            <a:stCxn id="125" idx="0"/>
            <a:endCxn id="126" idx="0"/>
          </p:cNvCxnSpPr>
          <p:nvPr/>
        </p:nvCxnSpPr>
        <p:spPr>
          <a:xfrm flipV="1">
            <a:off x="8003949" y="855415"/>
            <a:ext cx="0" cy="190500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28" name="Understanding MLP residual bypass segment 3 start">
            <a:extLst>
              <a:ext uri="{FF2B5EF4-FFF2-40B4-BE49-F238E27FC236}">
                <a16:creationId xmlns:a16="http://schemas.microsoft.com/office/drawing/2014/main" id="{EF9ECF4A-E55E-48C2-B9F1-6EC47B449153}"/>
              </a:ext>
            </a:extLst>
          </p:cNvPr>
          <p:cNvSpPr>
            <a:spLocks noGrp="1"/>
          </p:cNvSpPr>
          <p:nvPr/>
        </p:nvSpPr>
        <p:spPr>
          <a:xfrm>
            <a:off x="8003472" y="855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Understanding MLP residual bypass segment 3 end">
            <a:extLst>
              <a:ext uri="{FF2B5EF4-FFF2-40B4-BE49-F238E27FC236}">
                <a16:creationId xmlns:a16="http://schemas.microsoft.com/office/drawing/2014/main" id="{D5842CEC-CAED-4AB5-BDB5-041B26B19BAC}"/>
              </a:ext>
            </a:extLst>
          </p:cNvPr>
          <p:cNvSpPr>
            <a:spLocks noGrp="1"/>
          </p:cNvSpPr>
          <p:nvPr/>
        </p:nvSpPr>
        <p:spPr>
          <a:xfrm>
            <a:off x="6574722" y="8554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9" name="Understanding MLP residual bypass segment 3"/>
          <p:cNvCxnSpPr>
            <a:stCxn id="128" idx="0"/>
            <a:endCxn id="129" idx="0"/>
          </p:cNvCxnSpPr>
          <p:nvPr/>
        </p:nvCxnSpPr>
        <p:spPr>
          <a:xfrm flipH="1">
            <a:off x="6575199" y="855415"/>
            <a:ext cx="1428750" cy="0"/>
          </a:xfrm>
          <a:prstGeom prst="straightConnector1">
            <a:avLst/>
          </a:prstGeom>
          <a:ln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" name="Understanding input tokens">
            <a:extLst>
              <a:ext uri="{FF2B5EF4-FFF2-40B4-BE49-F238E27FC236}">
                <a16:creationId xmlns:a16="http://schemas.microsoft.com/office/drawing/2014/main" id="{C665BCCC-8F6A-46F4-A9A2-394693F4E4AF}"/>
              </a:ext>
            </a:extLst>
          </p:cNvPr>
          <p:cNvSpPr>
            <a:spLocks noGrp="1"/>
          </p:cNvSpPr>
          <p:nvPr/>
        </p:nvSpPr>
        <p:spPr>
          <a:xfrm>
            <a:off x="4860698" y="9190266"/>
            <a:ext cx="3124200" cy="685800"/>
          </a:xfrm>
          <a:prstGeom prst="roundRect">
            <a:avLst>
              <a:gd name="adj" fmla="val 6944"/>
            </a:avLst>
          </a:prstGeom>
          <a:solidFill>
            <a:srgbClr val="F7DEDE"/>
          </a:solidFill>
          <a:ln w="38100">
            <a:solidFill>
              <a:srgbClr val="111111"/>
            </a:solidFill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2" name="Understanding input label">
            <a:extLst>
              <a:ext uri="{FF2B5EF4-FFF2-40B4-BE49-F238E27FC236}">
                <a16:creationId xmlns:a16="http://schemas.microsoft.com/office/drawing/2014/main" id="{31A5AC34-1E48-4288-BDAE-EAF7A9F93EBB}"/>
              </a:ext>
            </a:extLst>
          </p:cNvPr>
          <p:cNvSpPr>
            <a:spLocks noGrp="1"/>
          </p:cNvSpPr>
          <p:nvPr/>
        </p:nvSpPr>
        <p:spPr>
          <a:xfrm>
            <a:off x="4898798" y="9369574"/>
            <a:ext cx="3048000" cy="314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Text </a:t>
            </a:r>
            <a:r>
              <a:rPr lang="en-US" altLang="zh-CN" sz="2175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&amp;</a:t>
            </a:r>
            <a:r>
              <a:rPr sz="2175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 </a:t>
            </a:r>
            <a:r>
              <a:rPr sz="2175" dirty="0" err="1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ViT</a:t>
            </a:r>
            <a:r>
              <a:rPr sz="2175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 tokens</a:t>
            </a:r>
          </a:p>
        </p:txBody>
      </p:sp>
      <p:sp>
        <p:nvSpPr>
          <p:cNvPr id="133" name="Understanding parameter partition">
            <a:extLst>
              <a:ext uri="{FF2B5EF4-FFF2-40B4-BE49-F238E27FC236}">
                <a16:creationId xmlns:a16="http://schemas.microsoft.com/office/drawing/2014/main" id="{E755D5AE-C789-4063-8D49-8D199A4EAE2B}"/>
              </a:ext>
            </a:extLst>
          </p:cNvPr>
          <p:cNvSpPr>
            <a:spLocks noGrp="1"/>
          </p:cNvSpPr>
          <p:nvPr/>
        </p:nvSpPr>
        <p:spPr>
          <a:xfrm>
            <a:off x="4898798" y="9533166"/>
            <a:ext cx="3048000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endParaRPr sz="1950" dirty="0">
              <a:solidFill>
                <a:srgbClr val="111111"/>
              </a:solidFill>
              <a:latin typeface="Arial" panose="020B0604020202020204" pitchFamily="34" charset="0"/>
              <a:ea typeface="Times New Roman"/>
              <a:cs typeface="Arial" panose="020B0604020202020204" pitchFamily="34" charset="0"/>
            </a:endParaRPr>
          </a:p>
        </p:txBody>
      </p:sp>
      <p:sp>
        <p:nvSpPr>
          <p:cNvPr id="134" name="ViT image encoder">
            <a:extLst>
              <a:ext uri="{FF2B5EF4-FFF2-40B4-BE49-F238E27FC236}">
                <a16:creationId xmlns:a16="http://schemas.microsoft.com/office/drawing/2014/main" id="{707DC7A2-C773-46D8-8871-A3EDAC9127CC}"/>
              </a:ext>
            </a:extLst>
          </p:cNvPr>
          <p:cNvSpPr>
            <a:spLocks noGrp="1"/>
          </p:cNvSpPr>
          <p:nvPr/>
        </p:nvSpPr>
        <p:spPr>
          <a:xfrm>
            <a:off x="1760665" y="10200058"/>
            <a:ext cx="1441939" cy="533400"/>
          </a:xfrm>
          <a:prstGeom prst="roundRect">
            <a:avLst>
              <a:gd name="adj" fmla="val 8929"/>
            </a:avLst>
          </a:prstGeom>
          <a:solidFill>
            <a:srgbClr val="F7DED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10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ViT</a:t>
            </a:r>
          </a:p>
        </p:txBody>
      </p:sp>
      <p:sp>
        <p:nvSpPr>
          <p:cNvPr id="135" name="Vision connector input layer">
            <a:extLst>
              <a:ext uri="{FF2B5EF4-FFF2-40B4-BE49-F238E27FC236}">
                <a16:creationId xmlns:a16="http://schemas.microsoft.com/office/drawing/2014/main" id="{6A4B4120-19A5-4EB0-B024-00E7D00930C7}"/>
              </a:ext>
            </a:extLst>
          </p:cNvPr>
          <p:cNvSpPr>
            <a:spLocks noGrp="1"/>
          </p:cNvSpPr>
          <p:nvPr/>
        </p:nvSpPr>
        <p:spPr>
          <a:xfrm>
            <a:off x="3540162" y="10200058"/>
            <a:ext cx="1123950" cy="533400"/>
          </a:xfrm>
          <a:prstGeom prst="roundRect">
            <a:avLst>
              <a:gd name="adj" fmla="val 8929"/>
            </a:avLst>
          </a:prstGeom>
          <a:solidFill>
            <a:srgbClr val="DDDFE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0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Conn. in</a:t>
            </a:r>
          </a:p>
        </p:txBody>
      </p:sp>
      <p:sp>
        <p:nvSpPr>
          <p:cNvPr id="136" name="Vision connector output layer">
            <a:extLst>
              <a:ext uri="{FF2B5EF4-FFF2-40B4-BE49-F238E27FC236}">
                <a16:creationId xmlns:a16="http://schemas.microsoft.com/office/drawing/2014/main" id="{C97C37A3-5BB4-43C5-92A0-033A3DD34A94}"/>
              </a:ext>
            </a:extLst>
          </p:cNvPr>
          <p:cNvSpPr>
            <a:spLocks noGrp="1"/>
          </p:cNvSpPr>
          <p:nvPr/>
        </p:nvSpPr>
        <p:spPr>
          <a:xfrm>
            <a:off x="4934995" y="10202774"/>
            <a:ext cx="1219200" cy="533400"/>
          </a:xfrm>
          <a:prstGeom prst="roundRect">
            <a:avLst>
              <a:gd name="adj" fmla="val 8929"/>
            </a:avLst>
          </a:prstGeom>
          <a:solidFill>
            <a:srgbClr val="DDDFE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0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dirty="0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Conn. out</a:t>
            </a:r>
          </a:p>
        </p:txBody>
      </p:sp>
      <p:sp>
        <p:nvSpPr>
          <p:cNvPr id="137" name="2D position embedding">
            <a:extLst>
              <a:ext uri="{FF2B5EF4-FFF2-40B4-BE49-F238E27FC236}">
                <a16:creationId xmlns:a16="http://schemas.microsoft.com/office/drawing/2014/main" id="{82F15CC9-F363-4CBC-B526-2830912A9F6B}"/>
              </a:ext>
            </a:extLst>
          </p:cNvPr>
          <p:cNvSpPr>
            <a:spLocks noGrp="1"/>
          </p:cNvSpPr>
          <p:nvPr/>
        </p:nvSpPr>
        <p:spPr>
          <a:xfrm>
            <a:off x="6479472" y="10203045"/>
            <a:ext cx="1133475" cy="533400"/>
          </a:xfrm>
          <a:prstGeom prst="roundRect">
            <a:avLst>
              <a:gd name="adj" fmla="val 8929"/>
            </a:avLst>
          </a:prstGeom>
          <a:solidFill>
            <a:srgbClr val="D2E8CE"/>
          </a:solidFill>
          <a:ln w="38100">
            <a:solidFill>
              <a:srgbClr val="111111"/>
            </a:solidFill>
          </a:ln>
        </p:spPr>
        <p:txBody>
          <a:bodyPr wrap="none" lIns="19050" tIns="19050" rIns="19050" bIns="19050" anchor="ctr">
            <a:noAutofit/>
          </a:bodyPr>
          <a:lstStyle/>
          <a:p>
            <a:pPr algn="ctr">
              <a:defRPr sz="2025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>
                <a:solidFill>
                  <a:srgbClr val="111111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</a:rPr>
              <a:t>2D pos.</a:t>
            </a:r>
          </a:p>
        </p:txBody>
      </p:sp>
      <p:cxnSp>
        <p:nvCxnSpPr>
          <p:cNvPr id="287" name="ViT to connector input"/>
          <p:cNvCxnSpPr>
            <a:cxnSpLocks/>
            <a:stCxn id="134" idx="3"/>
            <a:endCxn id="135" idx="1"/>
          </p:cNvCxnSpPr>
          <p:nvPr/>
        </p:nvCxnSpPr>
        <p:spPr>
          <a:xfrm>
            <a:off x="3202604" y="10466758"/>
            <a:ext cx="337558" cy="0"/>
          </a:xfrm>
          <a:prstGeom prst="straightConnector1">
            <a:avLst/>
          </a:prstGeom>
          <a:ln w="20955" cap="rnd">
            <a:solidFill>
              <a:srgbClr val="111111"/>
            </a:solidFill>
            <a:prstDash val="solid"/>
            <a:round/>
            <a:tailEnd type="triangle" w="sm" len="sm"/>
          </a:ln>
        </p:spPr>
      </p:cxnSp>
      <p:cxnSp>
        <p:nvCxnSpPr>
          <p:cNvPr id="288" name="Connector input to connector output"/>
          <p:cNvCxnSpPr>
            <a:stCxn id="135" idx="3"/>
            <a:endCxn id="136" idx="1"/>
          </p:cNvCxnSpPr>
          <p:nvPr/>
        </p:nvCxnSpPr>
        <p:spPr>
          <a:xfrm>
            <a:off x="4664112" y="10466758"/>
            <a:ext cx="270883" cy="2716"/>
          </a:xfrm>
          <a:prstGeom prst="straightConnector1">
            <a:avLst/>
          </a:prstGeom>
          <a:ln w="20955" cap="rnd">
            <a:solidFill>
              <a:srgbClr val="111111"/>
            </a:solidFill>
            <a:prstDash val="solid"/>
            <a:round/>
            <a:tailEnd type="triangle" w="sm" len="sm"/>
          </a:ln>
        </p:spPr>
      </p:cxnSp>
      <p:cxnSp>
        <p:nvCxnSpPr>
          <p:cNvPr id="289" name="Connector output to position embedding"/>
          <p:cNvCxnSpPr>
            <a:stCxn id="136" idx="3"/>
            <a:endCxn id="137" idx="1"/>
          </p:cNvCxnSpPr>
          <p:nvPr/>
        </p:nvCxnSpPr>
        <p:spPr>
          <a:xfrm>
            <a:off x="6154195" y="10469474"/>
            <a:ext cx="325277" cy="271"/>
          </a:xfrm>
          <a:prstGeom prst="straightConnector1">
            <a:avLst/>
          </a:prstGeom>
          <a:ln w="20955" cap="rnd">
            <a:solidFill>
              <a:srgbClr val="111111"/>
            </a:solidFill>
            <a:prstDash val="solid"/>
            <a:round/>
            <a:tailEnd type="triangle" w="sm" len="sm"/>
          </a:ln>
        </p:spPr>
      </p:cxnSp>
      <p:sp>
        <p:nvSpPr>
          <p:cNvPr id="141" name="Visual embeddings to understanding tokens segment 1 start">
            <a:extLst>
              <a:ext uri="{FF2B5EF4-FFF2-40B4-BE49-F238E27FC236}">
                <a16:creationId xmlns:a16="http://schemas.microsoft.com/office/drawing/2014/main" id="{61D55981-34DF-4202-92DB-A7FA2A7F771D}"/>
              </a:ext>
            </a:extLst>
          </p:cNvPr>
          <p:cNvSpPr>
            <a:spLocks noGrp="1"/>
          </p:cNvSpPr>
          <p:nvPr/>
        </p:nvSpPr>
        <p:spPr>
          <a:xfrm>
            <a:off x="7855834" y="1018991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2" name="Visual embeddings to understanding tokens segment 1 end">
            <a:extLst>
              <a:ext uri="{FF2B5EF4-FFF2-40B4-BE49-F238E27FC236}">
                <a16:creationId xmlns:a16="http://schemas.microsoft.com/office/drawing/2014/main" id="{562AA30A-EFC9-455F-ACA5-711E02A7904D}"/>
              </a:ext>
            </a:extLst>
          </p:cNvPr>
          <p:cNvSpPr>
            <a:spLocks noGrp="1"/>
          </p:cNvSpPr>
          <p:nvPr/>
        </p:nvSpPr>
        <p:spPr>
          <a:xfrm>
            <a:off x="7855834" y="100184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2" name="Visual embeddings to understanding tokens segment 1"/>
          <p:cNvCxnSpPr>
            <a:cxnSpLocks/>
            <a:stCxn id="137" idx="0"/>
          </p:cNvCxnSpPr>
          <p:nvPr/>
        </p:nvCxnSpPr>
        <p:spPr>
          <a:xfrm flipV="1">
            <a:off x="7046210" y="10017513"/>
            <a:ext cx="0" cy="185532"/>
          </a:xfrm>
          <a:prstGeom prst="straightConnector1">
            <a:avLst/>
          </a:prstGeom>
          <a:ln w="2095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44" name="Visual embeddings to understanding tokens segment 2 start">
            <a:extLst>
              <a:ext uri="{FF2B5EF4-FFF2-40B4-BE49-F238E27FC236}">
                <a16:creationId xmlns:a16="http://schemas.microsoft.com/office/drawing/2014/main" id="{9A367696-F2C3-4D69-8B55-07A9FCA75E9D}"/>
              </a:ext>
            </a:extLst>
          </p:cNvPr>
          <p:cNvSpPr>
            <a:spLocks noGrp="1"/>
          </p:cNvSpPr>
          <p:nvPr/>
        </p:nvSpPr>
        <p:spPr>
          <a:xfrm>
            <a:off x="7855834" y="100184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5" name="Visual embeddings to understanding tokens segment 2 end">
            <a:extLst>
              <a:ext uri="{FF2B5EF4-FFF2-40B4-BE49-F238E27FC236}">
                <a16:creationId xmlns:a16="http://schemas.microsoft.com/office/drawing/2014/main" id="{D18D08AD-07CB-425E-A9D9-AC3DBB609140}"/>
              </a:ext>
            </a:extLst>
          </p:cNvPr>
          <p:cNvSpPr>
            <a:spLocks noGrp="1"/>
          </p:cNvSpPr>
          <p:nvPr/>
        </p:nvSpPr>
        <p:spPr>
          <a:xfrm>
            <a:off x="6422322" y="100184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5" name="Visual embeddings to understanding tokens segment 2"/>
          <p:cNvCxnSpPr>
            <a:cxnSpLocks/>
            <a:endCxn id="145" idx="0"/>
          </p:cNvCxnSpPr>
          <p:nvPr/>
        </p:nvCxnSpPr>
        <p:spPr>
          <a:xfrm flipH="1">
            <a:off x="6422799" y="10018465"/>
            <a:ext cx="623410" cy="0"/>
          </a:xfrm>
          <a:prstGeom prst="straightConnector1">
            <a:avLst/>
          </a:prstGeom>
          <a:ln w="2095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47" name="Visual embeddings to understanding tokens segment 3 start">
            <a:extLst>
              <a:ext uri="{FF2B5EF4-FFF2-40B4-BE49-F238E27FC236}">
                <a16:creationId xmlns:a16="http://schemas.microsoft.com/office/drawing/2014/main" id="{061AFCBF-F37B-41E7-B1D9-1A486D5D95D0}"/>
              </a:ext>
            </a:extLst>
          </p:cNvPr>
          <p:cNvSpPr>
            <a:spLocks noGrp="1"/>
          </p:cNvSpPr>
          <p:nvPr/>
        </p:nvSpPr>
        <p:spPr>
          <a:xfrm>
            <a:off x="6422322" y="10018465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8" name="Visual embeddings to understanding tokens segment 3 end">
            <a:extLst>
              <a:ext uri="{FF2B5EF4-FFF2-40B4-BE49-F238E27FC236}">
                <a16:creationId xmlns:a16="http://schemas.microsoft.com/office/drawing/2014/main" id="{3CC5ACE9-9D57-415C-8F97-CB9742ABD9E2}"/>
              </a:ext>
            </a:extLst>
          </p:cNvPr>
          <p:cNvSpPr>
            <a:spLocks noGrp="1"/>
          </p:cNvSpPr>
          <p:nvPr/>
        </p:nvSpPr>
        <p:spPr>
          <a:xfrm>
            <a:off x="6422322" y="9875590"/>
            <a:ext cx="953" cy="953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8" name="Visual embeddings to understanding tokens segment 3"/>
          <p:cNvCxnSpPr>
            <a:stCxn id="147" idx="0"/>
            <a:endCxn id="148" idx="0"/>
          </p:cNvCxnSpPr>
          <p:nvPr/>
        </p:nvCxnSpPr>
        <p:spPr>
          <a:xfrm flipV="1">
            <a:off x="6422799" y="9875590"/>
            <a:ext cx="0" cy="142875"/>
          </a:xfrm>
          <a:prstGeom prst="straightConnector1">
            <a:avLst/>
          </a:prstGeom>
          <a:ln w="20955" cap="rnd">
            <a:solidFill>
              <a:srgbClr val="111111"/>
            </a:solidFill>
            <a:prstDash val="solid"/>
            <a:round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3228160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</Words>
  <Application>Microsoft Macintosh PowerPoint</Application>
  <DocSecurity>0</DocSecurity>
  <PresentationFormat>自定义</PresentationFormat>
  <Paragraphs>35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Xie Ji</cp:lastModifiedBy>
  <cp:revision>1</cp:revision>
  <dcterms:created xsi:type="dcterms:W3CDTF">2026-09-21T01:16:45Z</dcterms:created>
  <dcterms:modified xsi:type="dcterms:W3CDTF">2026-09-21T01:48:55Z</dcterms:modified>
</cp:coreProperties>
</file>