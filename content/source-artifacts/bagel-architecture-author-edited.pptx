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56227bc225ac41cc" Type="http://schemas.openxmlformats.org/package/2006/relationships/metadata/core-properties" Target="docProps/core.xml"/><Relationship Id="Rb02f920d91cf49ec" Type="http://schemas.openxmlformats.org/officeDocument/2006/relationships/extended-properties" Target="docProps/app.xml"/><Relationship Id="Refa3c625b82d432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2ee48f7384659"/>
  </p:sldMasterIdLst>
  <p:notesMasterIdLst>
    <p:notesMasterId xmlns:r="http://schemas.openxmlformats.org/officeDocument/2006/relationships" r:id="Rcad9e911cc8f434a"/>
  </p:notesMasterIdLst>
  <p:sldIdLst>
    <p:sldId xmlns:r="http://schemas.openxmlformats.org/officeDocument/2006/relationships" id="256" r:id="Rc23c85f7aad64b9d"/>
  </p:sldIdLst>
  <p:sldSz cx="9144000" cy="1104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0d2ee48f7384659" Type="http://schemas.openxmlformats.org/officeDocument/2006/relationships/slideMaster" Target="slideMasters/slideMaster1.xml"/><Relationship Id="R532b2251d59744a2" Type="http://schemas.openxmlformats.org/officeDocument/2006/relationships/theme" Target="theme/theme1.xml"/><Relationship Id="Rc23c85f7aad64b9d" Type="http://schemas.openxmlformats.org/officeDocument/2006/relationships/slide" Target="slides/slide1.xml"/><Relationship Id="Rc9161cbe71e9492d" Type="http://schemas.openxmlformats.org/officeDocument/2006/relationships/viewProps" Target="viewProps.xml"/><Relationship Id="Rcad9e911cc8f434a" Type="http://schemas.openxmlformats.org/officeDocument/2006/relationships/notesMaster" Target="notesMasters/notesMaster1.xml"/><Relationship Id="Rd268424301414539" Type="http://schemas.openxmlformats.org/officeDocument/2006/relationships/tableStyles" Target="tableStyles.xml"/><Relationship Id="Red0a4f03c2ef4e3f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6fd262dd1d834d6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8e9ac1df65d4bc9" Type="http://schemas.openxmlformats.org/officeDocument/2006/relationships/slide" Target="../slides/slide1.xml"/><Relationship Id="Rcef6dcb2212649c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public/figures/bagel-attention-</a:t>
            </a:r>
            <a:r>
              <a:t>architecture.svg</a:t>
            </a:r>
            <a:r>
              <a:t> in the supplied project. One BAGEL decoder layer is shown from bottom to top and repeated N times. Generation tokens use generation parameters, while text and </a:t>
            </a:r>
            <a:r>
              <a:t>ViT</a:t>
            </a:r>
            <a:r>
              <a:t> tokens use understanding parameters. Query/key normalization and </a:t>
            </a:r>
            <a:r>
              <a:t>RoPE</a:t>
            </a:r>
            <a:r>
              <a:t> apply to Q and K only. Shared attention packs the branches under </a:t>
            </a:r>
            <a:r>
              <a:t>attention_mask</a:t>
            </a:r>
            <a:r>
              <a:t> and routes outputs back to their branch. Residuals wrap attention and MLP separately. Source metadata cites </a:t>
            </a:r>
            <a:r>
              <a:t>ByteDance</a:t>
            </a:r>
            <a:r>
              <a:t>-Seed/Bagel commit a2fa77dd8caeefc41e6607ae0ec17408d3f4ee9f: https://</a:t>
            </a:r>
            <a:r>
              <a:t>github.com</a:t>
            </a:r>
            <a:r>
              <a:t>/</a:t>
            </a:r>
            <a:r>
              <a:t>ByteDance</a:t>
            </a:r>
            <a:r>
              <a:t>-Seed/Bagel/blob/a2fa77dd8caeefc41e6607ae0ec17408d3f4ee9f/modeling/bagel/qwen2_navit.py#L381-L497 ; qwen2_navit.py lines 687–755 ; modeling/bagel/</a:t>
            </a:r>
            <a:r>
              <a:t>bagel.py</a:t>
            </a:r>
            <a:r>
              <a:t> lines 77–87 and 165–185 ; modeling/bagel/</a:t>
            </a:r>
            <a:r>
              <a:t>modeling_utils.py</a:t>
            </a:r>
            <a:r>
              <a:t> lines 113–124 ; modeling/qwen2/modeling_qwen2.py Qwen2MLP. Output heads, KV caches and training-freeze options are outside this layer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e8d1b5ce7c14da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0019e9a50fa4dd8" Type="http://schemas.openxmlformats.org/officeDocument/2006/relationships/theme" Target="theme/theme2.xml"/><Relationship Id="Ra6060763ecbd470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60763ecbd47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d4e79e6461642ff" Type="http://schemas.openxmlformats.org/officeDocument/2006/relationships/notesSlide" Target="../notesSlides/notesSlide1.xml"/><Relationship Id="R8e02ba3cf1c7490a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BAGEL decoder layer repeated N times">
            <a:extLst xmlns:a="http://schemas.openxmlformats.org/drawingml/2006/main">
              <a:ext uri="{FF2B5EF4-FFF2-40B4-BE49-F238E27FC236}">
                <a16:creationId xmlns:a16="http://schemas.microsoft.com/office/drawing/2014/main" id="{91EDC9C2-6236-4D60-AEC5-644DEBF1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12" y="616813"/>
            <a:ext cx="7392930" cy="8335328"/>
          </a:xfrm>
          <a:prstGeom xmlns:a="http://schemas.openxmlformats.org/drawingml/2006/main" prst="roundRect">
            <a:avLst>
              <a:gd name="adj" fmla="val 2024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2" name="Generation branch title">
            <a:extLst xmlns:a="http://schemas.openxmlformats.org/drawingml/2006/main">
              <a:ext uri="{FF2B5EF4-FFF2-40B4-BE49-F238E27FC236}">
                <a16:creationId xmlns:a16="http://schemas.microsoft.com/office/drawing/2014/main" id="{D8F06A9A-8FF9-44B5-BF49-DCE3E4E9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612" y="65316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Generation</a:t>
            </a:r>
          </a:p>
        </p:txBody>
      </p:sp>
      <p:sp>
        <p:nvSpPr>
          <p:cNvPr id="3" name="Understanding branch title">
            <a:extLst xmlns:a="http://schemas.openxmlformats.org/drawingml/2006/main">
              <a:ext uri="{FF2B5EF4-FFF2-40B4-BE49-F238E27FC236}">
                <a16:creationId xmlns:a16="http://schemas.microsoft.com/office/drawing/2014/main" id="{D1CA9182-1512-4F4F-93D3-301D06F3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48" y="65316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Understanding</a:t>
            </a:r>
          </a:p>
        </p:txBody>
      </p:sp>
      <p:sp>
        <p:nvSpPr>
          <p:cNvPr id="4" name="Layer repetition">
            <a:extLst xmlns:a="http://schemas.openxmlformats.org/drawingml/2006/main">
              <a:ext uri="{FF2B5EF4-FFF2-40B4-BE49-F238E27FC236}">
                <a16:creationId xmlns:a16="http://schemas.microsoft.com/office/drawing/2014/main" id="{7D685920-0B6E-44F0-8AE8-EB7F555B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82" y="4423003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600" i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N×</a:t>
            </a:r>
          </a:p>
        </p:txBody>
      </p:sp>
      <p:sp>
        <p:nvSpPr>
          <p:cNvPr id="5" name="Shared attention">
            <a:extLst xmlns:a="http://schemas.openxmlformats.org/drawingml/2006/main">
              <a:ext uri="{FF2B5EF4-FFF2-40B4-BE49-F238E27FC236}">
                <a16:creationId xmlns:a16="http://schemas.microsoft.com/office/drawing/2014/main" id="{70C37ACE-237D-4698-AF13-B43B749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62" y="4256316"/>
            <a:ext cx="6520710" cy="762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E0B3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Shared attention</a:t>
            </a:r>
          </a:p>
        </p:txBody>
      </p:sp>
      <p:sp>
        <p:nvSpPr>
          <p:cNvPr id="6" name="Generation pre-attention RMSNorm">
            <a:extLst xmlns:a="http://schemas.openxmlformats.org/drawingml/2006/main">
              <a:ext uri="{FF2B5EF4-FFF2-40B4-BE49-F238E27FC236}">
                <a16:creationId xmlns:a16="http://schemas.microsoft.com/office/drawing/2014/main" id="{7DC8E0EE-4706-43EC-AB88-92EB2F3D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7837716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4F1B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RMSNorm (Pre-attn)</a:t>
            </a:r>
          </a:p>
        </p:txBody>
      </p:sp>
      <p:sp>
        <p:nvSpPr>
          <p:cNvPr id="7" name="Generation Q K V projections">
            <a:extLst xmlns:a="http://schemas.openxmlformats.org/drawingml/2006/main">
              <a:ext uri="{FF2B5EF4-FFF2-40B4-BE49-F238E27FC236}">
                <a16:creationId xmlns:a16="http://schemas.microsoft.com/office/drawing/2014/main" id="{0A635172-1F46-4D74-BF5C-B53664CF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7018566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DDDFE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Q / K / V projections</a:t>
            </a:r>
          </a:p>
        </p:txBody>
      </p:sp>
      <p:sp>
        <p:nvSpPr>
          <p:cNvPr id="8" name="Generation Q K normalization">
            <a:extLst xmlns:a="http://schemas.openxmlformats.org/drawingml/2006/main">
              <a:ext uri="{FF2B5EF4-FFF2-40B4-BE49-F238E27FC236}">
                <a16:creationId xmlns:a16="http://schemas.microsoft.com/office/drawing/2014/main" id="{95E877A8-367B-41AE-BD7E-9699A4E8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6218466"/>
            <a:ext cx="22860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F1B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Q norm </a:t>
            </a:r>
            <a:r>
              <a:rPr sz="18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&amp;</a:t>
            </a:r>
            <a:r>
              <a:rPr sz="18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K norm</a:t>
            </a:r>
          </a:p>
        </p:txBody>
      </p:sp>
      <p:sp>
        <p:nvSpPr>
          <p:cNvPr id="9" name="Generation rotary position embedding">
            <a:extLst xmlns:a="http://schemas.openxmlformats.org/drawingml/2006/main">
              <a:ext uri="{FF2B5EF4-FFF2-40B4-BE49-F238E27FC236}">
                <a16:creationId xmlns:a16="http://schemas.microsoft.com/office/drawing/2014/main" id="{04851DD7-AE5C-427A-987D-B2BACC0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5418366"/>
            <a:ext cx="22860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2E8C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RoPE (Q, K)</a:t>
            </a:r>
          </a:p>
        </p:txBody>
      </p:sp>
      <p:sp>
        <p:nvSpPr>
          <p:cNvPr id="10" name="Generation attention output projection">
            <a:extLst xmlns:a="http://schemas.openxmlformats.org/drawingml/2006/main">
              <a:ext uri="{FF2B5EF4-FFF2-40B4-BE49-F238E27FC236}">
                <a16:creationId xmlns:a16="http://schemas.microsoft.com/office/drawing/2014/main" id="{E0999298-6190-4739-80CC-3C24C000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3351441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DDDFE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Output projection</a:t>
            </a:r>
          </a:p>
        </p:txBody>
      </p:sp>
      <p:sp>
        <p:nvSpPr>
          <p:cNvPr id="11" name="Generation attention residual add">
            <a:extLst xmlns:a="http://schemas.openxmlformats.org/drawingml/2006/main">
              <a:ext uri="{FF2B5EF4-FFF2-40B4-BE49-F238E27FC236}">
                <a16:creationId xmlns:a16="http://schemas.microsoft.com/office/drawing/2014/main" id="{D12B0151-BD9D-4FFA-B0CF-87D48162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462" y="2798991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2" name="Generation pre-MLP RMSNorm">
            <a:extLst xmlns:a="http://schemas.openxmlformats.org/drawingml/2006/main">
              <a:ext uri="{FF2B5EF4-FFF2-40B4-BE49-F238E27FC236}">
                <a16:creationId xmlns:a16="http://schemas.microsoft.com/office/drawing/2014/main" id="{8679B3A4-D183-4C72-B8A9-D5A880DE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2094141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4F1B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RMSNorm (Pre-MLP)</a:t>
            </a:r>
          </a:p>
        </p:txBody>
      </p:sp>
      <p:sp>
        <p:nvSpPr>
          <p:cNvPr id="13" name="Generation MLP">
            <a:extLst xmlns:a="http://schemas.openxmlformats.org/drawingml/2006/main">
              <a:ext uri="{FF2B5EF4-FFF2-40B4-BE49-F238E27FC236}">
                <a16:creationId xmlns:a16="http://schemas.microsoft.com/office/drawing/2014/main" id="{101248A9-CDC7-4C83-A4AA-DC8EEF18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1160691"/>
            <a:ext cx="2857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C5E6F1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4" name="Generation MLP label">
            <a:extLst xmlns:a="http://schemas.openxmlformats.org/drawingml/2006/main">
              <a:ext uri="{FF2B5EF4-FFF2-40B4-BE49-F238E27FC236}">
                <a16:creationId xmlns:a16="http://schemas.microsoft.com/office/drawing/2014/main" id="{09D99C53-A92D-4F16-A0D3-0FEBE3E6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636" y="1237534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MLP</a:t>
            </a:r>
          </a:p>
        </p:txBody>
      </p:sp>
      <p:sp>
        <p:nvSpPr>
          <p:cNvPr id="15" name="Generation MLP sublayers">
            <a:extLst xmlns:a="http://schemas.openxmlformats.org/drawingml/2006/main">
              <a:ext uri="{FF2B5EF4-FFF2-40B4-BE49-F238E27FC236}">
                <a16:creationId xmlns:a16="http://schemas.microsoft.com/office/drawing/2014/main" id="{9CC7E17C-07DA-44F4-806A-282D51FB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12" y="1465491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Gate × Up → Down</a:t>
            </a:r>
          </a:p>
        </p:txBody>
      </p:sp>
      <p:sp>
        <p:nvSpPr>
          <p:cNvPr id="16" name="Generation MLP residual add">
            <a:extLst xmlns:a="http://schemas.openxmlformats.org/drawingml/2006/main">
              <a:ext uri="{FF2B5EF4-FFF2-40B4-BE49-F238E27FC236}">
                <a16:creationId xmlns:a16="http://schemas.microsoft.com/office/drawing/2014/main" id="{105557B6-E327-4566-943C-8914DB4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462" y="703491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17" name="Generation attention residual input">
            <a:extLst xmlns:a="http://schemas.openxmlformats.org/drawingml/2006/main">
              <a:ext uri="{FF2B5EF4-FFF2-40B4-BE49-F238E27FC236}">
                <a16:creationId xmlns:a16="http://schemas.microsoft.com/office/drawing/2014/main" id="{222309DB-513E-434C-A806-A0195858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382" y="86168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8" name="Generation MLP residual input">
            <a:extLst xmlns:a="http://schemas.openxmlformats.org/drawingml/2006/main">
              <a:ext uri="{FF2B5EF4-FFF2-40B4-BE49-F238E27FC236}">
                <a16:creationId xmlns:a16="http://schemas.microsoft.com/office/drawing/2014/main" id="{BF081199-E591-4961-9740-FDEBFF7C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382" y="273041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17" name="Generation pre-attn to QKV"/>
          <p:cNvCxnSpPr>
            <a:stCxn xmlns:a="http://schemas.openxmlformats.org/drawingml/2006/main" id="6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044862" y="7523391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eneration QK projections to norm start">
            <a:extLst xmlns:a="http://schemas.openxmlformats.org/drawingml/2006/main">
              <a:ext uri="{FF2B5EF4-FFF2-40B4-BE49-F238E27FC236}">
                <a16:creationId xmlns:a16="http://schemas.microsoft.com/office/drawing/2014/main" id="{A4CF5680-F00F-41A5-8831-18359616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636" y="70180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21" name="Generation QK projections to norm end">
            <a:extLst xmlns:a="http://schemas.openxmlformats.org/drawingml/2006/main">
              <a:ext uri="{FF2B5EF4-FFF2-40B4-BE49-F238E27FC236}">
                <a16:creationId xmlns:a16="http://schemas.microsoft.com/office/drawing/2014/main" id="{4AF1A49F-6E44-4D0B-ABCB-8B2C08B2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636" y="6656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20" name="Generation QK projections to norm"/>
          <p:cNvCxnSpPr>
            <a:stCxn xmlns:a="http://schemas.openxmlformats.org/drawingml/2006/main" id="20" idx="0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V="1">
            <a:off x="2759113" y="665614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" name="Generation QK norm to RoPE"/>
          <p:cNvCxnSpPr>
            <a:stCxn xmlns:a="http://schemas.openxmlformats.org/drawingml/2006/main" id="8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2759112" y="5856516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eneration QK RoPE to attention start">
            <a:extLst xmlns:a="http://schemas.openxmlformats.org/drawingml/2006/main">
              <a:ext uri="{FF2B5EF4-FFF2-40B4-BE49-F238E27FC236}">
                <a16:creationId xmlns:a16="http://schemas.microsoft.com/office/drawing/2014/main" id="{F6C4E5CD-BEEF-4DC5-ABBC-22A2457D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636" y="54178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25" name="Generation QK RoPE to attention end">
            <a:extLst xmlns:a="http://schemas.openxmlformats.org/drawingml/2006/main">
              <a:ext uri="{FF2B5EF4-FFF2-40B4-BE49-F238E27FC236}">
                <a16:creationId xmlns:a16="http://schemas.microsoft.com/office/drawing/2014/main" id="{705A6E23-6E4B-4C3E-9547-EE694BF4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636" y="5017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24" name="Generation QK RoPE to attention"/>
          <p:cNvCxnSpPr>
            <a:stCxn xmlns:a="http://schemas.openxmlformats.org/drawingml/2006/main" id="24" idx="0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V="1">
            <a:off x="2759113" y="501784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eneration V bypasses normalization and RoPE start">
            <a:extLst xmlns:a="http://schemas.openxmlformats.org/drawingml/2006/main">
              <a:ext uri="{FF2B5EF4-FFF2-40B4-BE49-F238E27FC236}">
                <a16:creationId xmlns:a16="http://schemas.microsoft.com/office/drawing/2014/main" id="{FBA7C105-4465-4FC6-AAEF-43574EC4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011" y="70180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28" name="Generation V bypasses normalization and RoPE end">
            <a:extLst xmlns:a="http://schemas.openxmlformats.org/drawingml/2006/main">
              <a:ext uri="{FF2B5EF4-FFF2-40B4-BE49-F238E27FC236}">
                <a16:creationId xmlns:a16="http://schemas.microsoft.com/office/drawing/2014/main" id="{4DD5ED87-8546-4DFC-A327-972D72C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011" y="5017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27" name="Generation V bypasses normalization and RoPE"/>
          <p:cNvCxnSpPr>
            <a:stCxn xmlns:a="http://schemas.openxmlformats.org/drawingml/2006/main" id="27" idx="0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V="1">
            <a:off x="4235488" y="501784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eneration QK edge label">
            <a:extLst xmlns:a="http://schemas.openxmlformats.org/drawingml/2006/main">
              <a:ext uri="{FF2B5EF4-FFF2-40B4-BE49-F238E27FC236}">
                <a16:creationId xmlns:a16="http://schemas.microsoft.com/office/drawing/2014/main" id="{0D865DA1-DB22-4831-85B5-38DE97ED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123" y="6686620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Q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 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K</a:t>
            </a:r>
          </a:p>
        </p:txBody>
      </p:sp>
      <p:sp>
        <p:nvSpPr>
          <p:cNvPr id="31" name="Generation V edge label">
            <a:extLst xmlns:a="http://schemas.openxmlformats.org/drawingml/2006/main">
              <a:ext uri="{FF2B5EF4-FFF2-40B4-BE49-F238E27FC236}">
                <a16:creationId xmlns:a16="http://schemas.microsoft.com/office/drawing/2014/main" id="{DF76B45A-E5BF-4BFB-8D52-63BF434F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37" y="5770791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</a:t>
            </a:r>
          </a:p>
        </p:txBody>
      </p:sp>
      <p:sp>
        <p:nvSpPr>
          <p:cNvPr id="32" name="Generation attention to output projection start">
            <a:extLst xmlns:a="http://schemas.openxmlformats.org/drawingml/2006/main">
              <a:ext uri="{FF2B5EF4-FFF2-40B4-BE49-F238E27FC236}">
                <a16:creationId xmlns:a16="http://schemas.microsoft.com/office/drawing/2014/main" id="{CC12C707-0592-42B2-AD5D-2A833EC1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4255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3" name="Generation attention to output projection end">
            <a:extLst xmlns:a="http://schemas.openxmlformats.org/drawingml/2006/main">
              <a:ext uri="{FF2B5EF4-FFF2-40B4-BE49-F238E27FC236}">
                <a16:creationId xmlns:a16="http://schemas.microsoft.com/office/drawing/2014/main" id="{F25E012C-3C93-4D8F-892F-8BDBA0F4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38557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32" name="Generation attention to output projection"/>
          <p:cNvCxnSpPr>
            <a:stCxn xmlns:a="http://schemas.openxmlformats.org/drawingml/2006/main" id="32" idx="0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V="1">
            <a:off x="3044863" y="385579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3" name="Generation output projection to residual add"/>
          <p:cNvCxnSpPr>
            <a:stCxn xmlns:a="http://schemas.openxmlformats.org/drawingml/2006/main" id="10" idx="0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V="1">
            <a:off x="3044862" y="3103791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eneration residual to pre-MLP"/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3044862" y="2598966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triangle" w="sm" len="sm"/>
          </a:ln>
        </p:spPr>
      </p:cxnSp>
      <p:sp>
        <p:nvSpPr>
          <p:cNvPr id="37" name="Generation pre-MLP to MLP start">
            <a:extLst xmlns:a="http://schemas.openxmlformats.org/drawingml/2006/main">
              <a:ext uri="{FF2B5EF4-FFF2-40B4-BE49-F238E27FC236}">
                <a16:creationId xmlns:a16="http://schemas.microsoft.com/office/drawing/2014/main" id="{A69F03E9-9B71-4C23-AE72-D9345597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20936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38" name="Generation pre-MLP to MLP end">
            <a:extLst xmlns:a="http://schemas.openxmlformats.org/drawingml/2006/main">
              <a:ext uri="{FF2B5EF4-FFF2-40B4-BE49-F238E27FC236}">
                <a16:creationId xmlns:a16="http://schemas.microsoft.com/office/drawing/2014/main" id="{CE43D23C-8D5B-4672-9A9E-34F71073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1807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37" name="Generation pre-MLP to MLP"/>
          <p:cNvCxnSpPr>
            <a:stCxn xmlns:a="http://schemas.openxmlformats.org/drawingml/2006/main" id="37" idx="0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V="1">
            <a:off x="3044863" y="180791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Generation MLP to final residual start">
            <a:extLst xmlns:a="http://schemas.openxmlformats.org/drawingml/2006/main">
              <a:ext uri="{FF2B5EF4-FFF2-40B4-BE49-F238E27FC236}">
                <a16:creationId xmlns:a16="http://schemas.microsoft.com/office/drawing/2014/main" id="{451F1F83-A5E9-40FA-A86F-F0C32BB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11602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1" name="Generation MLP to final residual end">
            <a:extLst xmlns:a="http://schemas.openxmlformats.org/drawingml/2006/main">
              <a:ext uri="{FF2B5EF4-FFF2-40B4-BE49-F238E27FC236}">
                <a16:creationId xmlns:a16="http://schemas.microsoft.com/office/drawing/2014/main" id="{3390DFB5-BF38-4953-9FD2-43938E7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10078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40" name="Generation MLP to final residual"/>
          <p:cNvCxnSpPr>
            <a:stCxn xmlns:a="http://schemas.openxmlformats.org/drawingml/2006/main" id="40" idx="0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V="1">
            <a:off x="3044863" y="100781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" name="Generation layer output start">
            <a:extLst xmlns:a="http://schemas.openxmlformats.org/drawingml/2006/main">
              <a:ext uri="{FF2B5EF4-FFF2-40B4-BE49-F238E27FC236}">
                <a16:creationId xmlns:a16="http://schemas.microsoft.com/office/drawing/2014/main" id="{8B1C46A1-BC62-4275-991B-0BD876F7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7030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42" name="Generation layer output"/>
          <p:cNvCxnSpPr>
            <a:stCxn xmlns:a="http://schemas.openxmlformats.org/drawingml/2006/main" id="43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3044862" y="474891"/>
            <a:ext cx="1" cy="228124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Generation token input to pre-attn start">
            <a:extLst xmlns:a="http://schemas.openxmlformats.org/drawingml/2006/main">
              <a:ext uri="{FF2B5EF4-FFF2-40B4-BE49-F238E27FC236}">
                <a16:creationId xmlns:a16="http://schemas.microsoft.com/office/drawing/2014/main" id="{E8CF28DF-C59D-4B28-BB15-BC4E53FF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91897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47" name="Generation token input to pre-attn end">
            <a:extLst xmlns:a="http://schemas.openxmlformats.org/drawingml/2006/main">
              <a:ext uri="{FF2B5EF4-FFF2-40B4-BE49-F238E27FC236}">
                <a16:creationId xmlns:a16="http://schemas.microsoft.com/office/drawing/2014/main" id="{87CBAE0C-FF7D-429F-B7D9-53531754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83420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45" name="Generation token input to pre-attn"/>
          <p:cNvCxnSpPr>
            <a:stCxn xmlns:a="http://schemas.openxmlformats.org/drawingml/2006/main" id="46" idx="0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V="1">
            <a:off x="3044863" y="8342065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" name="Generation attention residual bypass segment 1 start">
            <a:extLst xmlns:a="http://schemas.openxmlformats.org/drawingml/2006/main">
              <a:ext uri="{FF2B5EF4-FFF2-40B4-BE49-F238E27FC236}">
                <a16:creationId xmlns:a16="http://schemas.microsoft.com/office/drawing/2014/main" id="{8FC005AA-FD47-45A8-B5FA-757C03D8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86468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0" name="Generation attention residual bypass segment 1 end">
            <a:extLst xmlns:a="http://schemas.openxmlformats.org/drawingml/2006/main">
              <a:ext uri="{FF2B5EF4-FFF2-40B4-BE49-F238E27FC236}">
                <a16:creationId xmlns:a16="http://schemas.microsoft.com/office/drawing/2014/main" id="{5828B49C-BA3D-4FB6-9C72-FC66BD49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86" y="86468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48" name="Generation attention residual bypass segment 1"/>
          <p:cNvCxnSpPr>
            <a:stCxn xmlns:a="http://schemas.openxmlformats.org/drawingml/2006/main" id="49" idx="0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1292263" y="8646865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52" name="Generation attention residual bypass segment 2 start">
            <a:extLst xmlns:a="http://schemas.openxmlformats.org/drawingml/2006/main">
              <a:ext uri="{FF2B5EF4-FFF2-40B4-BE49-F238E27FC236}">
                <a16:creationId xmlns:a16="http://schemas.microsoft.com/office/drawing/2014/main" id="{71DAF56F-56F0-46DB-B9F3-49B50E88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86" y="86468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3" name="Generation attention residual bypass segment 2 end">
            <a:extLst xmlns:a="http://schemas.openxmlformats.org/drawingml/2006/main">
              <a:ext uri="{FF2B5EF4-FFF2-40B4-BE49-F238E27FC236}">
                <a16:creationId xmlns:a16="http://schemas.microsoft.com/office/drawing/2014/main" id="{BD352371-37E1-4783-8FAB-2E17BA5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86" y="2950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51" name="Generation attention residual bypass segment 2"/>
          <p:cNvCxnSpPr>
            <a:stCxn xmlns:a="http://schemas.openxmlformats.org/drawingml/2006/main" id="52" idx="0"/>
            <a:endCxn xmlns:a="http://schemas.openxmlformats.org/drawingml/2006/main" id="53" idx="0"/>
          </p:cNvCxnSpPr>
          <p:nvPr/>
        </p:nvCxnSpPr>
        <p:spPr>
          <a:xfrm xmlns:a="http://schemas.openxmlformats.org/drawingml/2006/main" flipV="1">
            <a:off x="1292263" y="2950915"/>
            <a:ext cx="0" cy="56959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55" name="Generation attention residual bypass segment 3 start">
            <a:extLst xmlns:a="http://schemas.openxmlformats.org/drawingml/2006/main">
              <a:ext uri="{FF2B5EF4-FFF2-40B4-BE49-F238E27FC236}">
                <a16:creationId xmlns:a16="http://schemas.microsoft.com/office/drawing/2014/main" id="{8F4200B8-7AB2-4ECE-90C0-8E5F67E0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86" y="2950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6" name="Generation attention residual bypass segment 3 end">
            <a:extLst xmlns:a="http://schemas.openxmlformats.org/drawingml/2006/main">
              <a:ext uri="{FF2B5EF4-FFF2-40B4-BE49-F238E27FC236}">
                <a16:creationId xmlns:a16="http://schemas.microsoft.com/office/drawing/2014/main" id="{5BF70AC7-823B-4D9D-ACC2-3CD19B20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986" y="2950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54" name="Generation attention residual bypass segment 3"/>
          <p:cNvCxnSpPr>
            <a:stCxn xmlns:a="http://schemas.openxmlformats.org/drawingml/2006/main" id="55" idx="0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292263" y="295091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" name="Generation MLP residual bypass segment 1 start">
            <a:extLst xmlns:a="http://schemas.openxmlformats.org/drawingml/2006/main">
              <a:ext uri="{FF2B5EF4-FFF2-40B4-BE49-F238E27FC236}">
                <a16:creationId xmlns:a16="http://schemas.microsoft.com/office/drawing/2014/main" id="{9A0C37E0-8619-4EDD-92C9-51FC56CB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386" y="2760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59" name="Generation MLP residual bypass segment 1 end">
            <a:extLst xmlns:a="http://schemas.openxmlformats.org/drawingml/2006/main">
              <a:ext uri="{FF2B5EF4-FFF2-40B4-BE49-F238E27FC236}">
                <a16:creationId xmlns:a16="http://schemas.microsoft.com/office/drawing/2014/main" id="{D76FBF65-48D2-400A-8FF8-2724262F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36" y="2760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57" name="Generation MLP residual bypass segment 1"/>
          <p:cNvCxnSpPr>
            <a:stCxn xmlns:a="http://schemas.openxmlformats.org/drawingml/2006/main" id="58" idx="0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1463713" y="2760415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eneration MLP residual bypass segment 2 start">
            <a:extLst xmlns:a="http://schemas.openxmlformats.org/drawingml/2006/main">
              <a:ext uri="{FF2B5EF4-FFF2-40B4-BE49-F238E27FC236}">
                <a16:creationId xmlns:a16="http://schemas.microsoft.com/office/drawing/2014/main" id="{F602F5A7-E3EC-48DE-93AC-155B1D43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36" y="2760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2" name="Generation MLP residual bypass segment 2 end">
            <a:extLst xmlns:a="http://schemas.openxmlformats.org/drawingml/2006/main">
              <a:ext uri="{FF2B5EF4-FFF2-40B4-BE49-F238E27FC236}">
                <a16:creationId xmlns:a16="http://schemas.microsoft.com/office/drawing/2014/main" id="{AB4B599E-A2EF-4E8D-8288-B64F0AFD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36" y="855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60" name="Generation MLP residual bypass segment 2"/>
          <p:cNvCxnSpPr>
            <a:stCxn xmlns:a="http://schemas.openxmlformats.org/drawingml/2006/main" id="61" idx="0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V="1">
            <a:off x="1463713" y="855415"/>
            <a:ext cx="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64" name="Generation MLP residual bypass segment 3 start">
            <a:extLst xmlns:a="http://schemas.openxmlformats.org/drawingml/2006/main">
              <a:ext uri="{FF2B5EF4-FFF2-40B4-BE49-F238E27FC236}">
                <a16:creationId xmlns:a16="http://schemas.microsoft.com/office/drawing/2014/main" id="{0A564D03-4B75-43D1-BF49-28DC703F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36" y="855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5" name="Generation MLP residual bypass segment 3 end">
            <a:extLst xmlns:a="http://schemas.openxmlformats.org/drawingml/2006/main">
              <a:ext uri="{FF2B5EF4-FFF2-40B4-BE49-F238E27FC236}">
                <a16:creationId xmlns:a16="http://schemas.microsoft.com/office/drawing/2014/main" id="{BE2D7F9E-C36C-4999-95F8-88A7A44A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986" y="855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63" name="Generation MLP residual bypass segment 3"/>
          <p:cNvCxnSpPr>
            <a:stCxn xmlns:a="http://schemas.openxmlformats.org/drawingml/2006/main" id="64" idx="0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463713" y="85541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" name="Generation input tokens">
            <a:extLst xmlns:a="http://schemas.openxmlformats.org/drawingml/2006/main">
              <a:ext uri="{FF2B5EF4-FFF2-40B4-BE49-F238E27FC236}">
                <a16:creationId xmlns:a16="http://schemas.microsoft.com/office/drawing/2014/main" id="{D09D6F93-3E03-4C9B-BD8E-560251F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62" y="9190266"/>
            <a:ext cx="31242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7DED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68" name="Generation input label">
            <a:extLst xmlns:a="http://schemas.openxmlformats.org/drawingml/2006/main">
              <a:ext uri="{FF2B5EF4-FFF2-40B4-BE49-F238E27FC236}">
                <a16:creationId xmlns:a16="http://schemas.microsoft.com/office/drawing/2014/main" id="{4520AA3B-7834-4733-9B9B-522039C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62" y="9356477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VAE latent tokens</a:t>
            </a:r>
          </a:p>
        </p:txBody>
      </p:sp>
      <p:sp>
        <p:nvSpPr>
          <p:cNvPr id="69" name="Generation parameter partition">
            <a:extLst xmlns:a="http://schemas.openxmlformats.org/drawingml/2006/main">
              <a:ext uri="{FF2B5EF4-FFF2-40B4-BE49-F238E27FC236}">
                <a16:creationId xmlns:a16="http://schemas.microsoft.com/office/drawing/2014/main" id="{FADA43FE-10DC-428D-8F87-4F5F892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62" y="9533166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sz="195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Understanding pre-attention RMSNorm">
            <a:extLst xmlns:a="http://schemas.openxmlformats.org/drawingml/2006/main">
              <a:ext uri="{FF2B5EF4-FFF2-40B4-BE49-F238E27FC236}">
                <a16:creationId xmlns:a16="http://schemas.microsoft.com/office/drawing/2014/main" id="{2C053FE2-D014-4FEA-B14E-4FD94DE7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7837716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4F1BE"/>
          </a:solidFill>
          <a:ln xmlns:a="http://schemas.openxmlformats.org/drawingml/2006/main" w="28575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RMSNorm (Pre-attn)</a:t>
            </a:r>
          </a:p>
        </p:txBody>
      </p:sp>
      <p:sp>
        <p:nvSpPr>
          <p:cNvPr id="71" name="Understanding Q K V projections">
            <a:extLst xmlns:a="http://schemas.openxmlformats.org/drawingml/2006/main">
              <a:ext uri="{FF2B5EF4-FFF2-40B4-BE49-F238E27FC236}">
                <a16:creationId xmlns:a16="http://schemas.microsoft.com/office/drawing/2014/main" id="{B90B3941-9BF5-4A27-A4B4-2C90C0B9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7018566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DDDFE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Q / K / V projections</a:t>
            </a:r>
          </a:p>
        </p:txBody>
      </p:sp>
      <p:sp>
        <p:nvSpPr>
          <p:cNvPr id="72" name="Understanding Q K normalization">
            <a:extLst xmlns:a="http://schemas.openxmlformats.org/drawingml/2006/main">
              <a:ext uri="{FF2B5EF4-FFF2-40B4-BE49-F238E27FC236}">
                <a16:creationId xmlns:a16="http://schemas.microsoft.com/office/drawing/2014/main" id="{51E3D678-997B-4DC8-BE8E-0140D379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6218466"/>
            <a:ext cx="22860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4F1B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Q norm </a:t>
            </a:r>
            <a:r>
              <a:rPr sz="18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&amp;</a:t>
            </a:r>
            <a:r>
              <a:rPr sz="18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K norm</a:t>
            </a:r>
          </a:p>
        </p:txBody>
      </p:sp>
      <p:sp>
        <p:nvSpPr>
          <p:cNvPr id="73" name="Understanding rotary position embedding">
            <a:extLst xmlns:a="http://schemas.openxmlformats.org/drawingml/2006/main">
              <a:ext uri="{FF2B5EF4-FFF2-40B4-BE49-F238E27FC236}">
                <a16:creationId xmlns:a16="http://schemas.microsoft.com/office/drawing/2014/main" id="{BBBF165B-8636-4B5B-8480-3B51CF51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5418366"/>
            <a:ext cx="22860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2E8C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RoPE (Q, K)</a:t>
            </a:r>
          </a:p>
        </p:txBody>
      </p:sp>
      <p:sp>
        <p:nvSpPr>
          <p:cNvPr id="74" name="Understanding attention output projection">
            <a:extLst xmlns:a="http://schemas.openxmlformats.org/drawingml/2006/main">
              <a:ext uri="{FF2B5EF4-FFF2-40B4-BE49-F238E27FC236}">
                <a16:creationId xmlns:a16="http://schemas.microsoft.com/office/drawing/2014/main" id="{92F183A1-ED87-42FB-B967-DF87CEDE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3351441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DDDFE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Output projection</a:t>
            </a:r>
          </a:p>
        </p:txBody>
      </p:sp>
      <p:sp>
        <p:nvSpPr>
          <p:cNvPr id="75" name="Understanding attention residual add">
            <a:extLst xmlns:a="http://schemas.openxmlformats.org/drawingml/2006/main">
              <a:ext uri="{FF2B5EF4-FFF2-40B4-BE49-F238E27FC236}">
                <a16:creationId xmlns:a16="http://schemas.microsoft.com/office/drawing/2014/main" id="{AE675A38-C79E-43EB-A15D-35724CD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398" y="2798991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76" name="Understanding pre-MLP RMSNorm">
            <a:extLst xmlns:a="http://schemas.openxmlformats.org/drawingml/2006/main">
              <a:ext uri="{FF2B5EF4-FFF2-40B4-BE49-F238E27FC236}">
                <a16:creationId xmlns:a16="http://schemas.microsoft.com/office/drawing/2014/main" id="{5E8BADC5-2236-4986-8A64-CC243AF2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2094141"/>
            <a:ext cx="285750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4F1B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RMSNorm (Pre-MLP)</a:t>
            </a:r>
          </a:p>
        </p:txBody>
      </p:sp>
      <p:sp>
        <p:nvSpPr>
          <p:cNvPr id="77" name="Understanding MLP">
            <a:extLst xmlns:a="http://schemas.openxmlformats.org/drawingml/2006/main">
              <a:ext uri="{FF2B5EF4-FFF2-40B4-BE49-F238E27FC236}">
                <a16:creationId xmlns:a16="http://schemas.microsoft.com/office/drawing/2014/main" id="{0A2D9349-E409-48FE-A7EB-B545A5FE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1160691"/>
            <a:ext cx="2857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C5E6F1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78" name="Understanding MLP label">
            <a:extLst xmlns:a="http://schemas.openxmlformats.org/drawingml/2006/main">
              <a:ext uri="{FF2B5EF4-FFF2-40B4-BE49-F238E27FC236}">
                <a16:creationId xmlns:a16="http://schemas.microsoft.com/office/drawing/2014/main" id="{741CBF52-1613-4C37-B39B-04C096DB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457" y="1238444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MLP</a:t>
            </a:r>
          </a:p>
        </p:txBody>
      </p:sp>
      <p:sp>
        <p:nvSpPr>
          <p:cNvPr id="79" name="Understanding MLP sublayers">
            <a:extLst xmlns:a="http://schemas.openxmlformats.org/drawingml/2006/main">
              <a:ext uri="{FF2B5EF4-FFF2-40B4-BE49-F238E27FC236}">
                <a16:creationId xmlns:a16="http://schemas.microsoft.com/office/drawing/2014/main" id="{11811A5B-31D7-4B4F-8B1A-E2751E9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48" y="1465491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Gate × Up → Down</a:t>
            </a:r>
          </a:p>
        </p:txBody>
      </p:sp>
      <p:sp>
        <p:nvSpPr>
          <p:cNvPr id="80" name="Understanding MLP residual add">
            <a:extLst xmlns:a="http://schemas.openxmlformats.org/drawingml/2006/main">
              <a:ext uri="{FF2B5EF4-FFF2-40B4-BE49-F238E27FC236}">
                <a16:creationId xmlns:a16="http://schemas.microsoft.com/office/drawing/2014/main" id="{C6512B12-6272-4B61-820F-BD3A6DEA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398" y="703491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+</a:t>
            </a:r>
          </a:p>
        </p:txBody>
      </p:sp>
      <p:sp>
        <p:nvSpPr>
          <p:cNvPr id="81" name="Understanding attention residual input">
            <a:extLst xmlns:a="http://schemas.openxmlformats.org/drawingml/2006/main">
              <a:ext uri="{FF2B5EF4-FFF2-40B4-BE49-F238E27FC236}">
                <a16:creationId xmlns:a16="http://schemas.microsoft.com/office/drawing/2014/main" id="{AA4CC722-691E-4F45-87AB-779BB9D6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318" y="861686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82" name="Understanding MLP residual input">
            <a:extLst xmlns:a="http://schemas.openxmlformats.org/drawingml/2006/main">
              <a:ext uri="{FF2B5EF4-FFF2-40B4-BE49-F238E27FC236}">
                <a16:creationId xmlns:a16="http://schemas.microsoft.com/office/drawing/2014/main" id="{B744D610-3605-46C7-A387-C44EEDC9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318" y="2730411"/>
            <a:ext cx="60960" cy="60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80" name="Understanding pre-attn to QKV"/>
          <p:cNvCxnSpPr>
            <a:stCxn xmlns:a="http://schemas.openxmlformats.org/drawingml/2006/main" id="70" idx="0"/>
            <a:endCxn xmlns:a="http://schemas.openxmlformats.org/drawingml/2006/main" id="71" idx="2"/>
          </p:cNvCxnSpPr>
          <p:nvPr/>
        </p:nvCxnSpPr>
        <p:spPr>
          <a:xfrm xmlns:a="http://schemas.openxmlformats.org/drawingml/2006/main" flipV="1">
            <a:off x="6422798" y="7523391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" name="Understanding QK projections to norm start">
            <a:extLst xmlns:a="http://schemas.openxmlformats.org/drawingml/2006/main">
              <a:ext uri="{FF2B5EF4-FFF2-40B4-BE49-F238E27FC236}">
                <a16:creationId xmlns:a16="http://schemas.microsoft.com/office/drawing/2014/main" id="{924C2CF8-4593-4BA5-8D9F-9AEF1AFB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572" y="70180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85" name="Understanding QK projections to norm end">
            <a:extLst xmlns:a="http://schemas.openxmlformats.org/drawingml/2006/main">
              <a:ext uri="{FF2B5EF4-FFF2-40B4-BE49-F238E27FC236}">
                <a16:creationId xmlns:a16="http://schemas.microsoft.com/office/drawing/2014/main" id="{F3525F09-9A29-4D7A-8677-3344DCA3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572" y="66561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83" name="Understanding QK projections to norm"/>
          <p:cNvCxnSpPr>
            <a:stCxn xmlns:a="http://schemas.openxmlformats.org/drawingml/2006/main" id="84" idx="0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V="1">
            <a:off x="6137049" y="665614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4" name="Understanding QK norm to RoPE"/>
          <p:cNvCxnSpPr>
            <a:stCxn xmlns:a="http://schemas.openxmlformats.org/drawingml/2006/main" id="72" idx="0"/>
            <a:endCxn xmlns:a="http://schemas.openxmlformats.org/drawingml/2006/main" id="73" idx="2"/>
          </p:cNvCxnSpPr>
          <p:nvPr/>
        </p:nvCxnSpPr>
        <p:spPr>
          <a:xfrm xmlns:a="http://schemas.openxmlformats.org/drawingml/2006/main" flipV="1">
            <a:off x="6137048" y="5856516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Understanding QK RoPE to attention start">
            <a:extLst xmlns:a="http://schemas.openxmlformats.org/drawingml/2006/main">
              <a:ext uri="{FF2B5EF4-FFF2-40B4-BE49-F238E27FC236}">
                <a16:creationId xmlns:a16="http://schemas.microsoft.com/office/drawing/2014/main" id="{FF7A1C1B-7A73-4B5F-86BC-E3B6CBB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572" y="54178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89" name="Understanding QK RoPE to attention end">
            <a:extLst xmlns:a="http://schemas.openxmlformats.org/drawingml/2006/main">
              <a:ext uri="{FF2B5EF4-FFF2-40B4-BE49-F238E27FC236}">
                <a16:creationId xmlns:a16="http://schemas.microsoft.com/office/drawing/2014/main" id="{89EC61C9-2705-4142-8D2B-1C72F6B4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572" y="5017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87" name="Understanding QK RoPE to attention"/>
          <p:cNvCxnSpPr>
            <a:stCxn xmlns:a="http://schemas.openxmlformats.org/drawingml/2006/main" id="88" idx="0"/>
            <a:endCxn xmlns:a="http://schemas.openxmlformats.org/drawingml/2006/main" id="89" idx="0"/>
          </p:cNvCxnSpPr>
          <p:nvPr/>
        </p:nvCxnSpPr>
        <p:spPr>
          <a:xfrm xmlns:a="http://schemas.openxmlformats.org/drawingml/2006/main" flipV="1">
            <a:off x="6137049" y="501784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Understanding V bypasses normalization and RoPE start">
            <a:extLst xmlns:a="http://schemas.openxmlformats.org/drawingml/2006/main">
              <a:ext uri="{FF2B5EF4-FFF2-40B4-BE49-F238E27FC236}">
                <a16:creationId xmlns:a16="http://schemas.microsoft.com/office/drawing/2014/main" id="{3B4F624A-9103-475D-AE92-D606BC8A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947" y="70180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92" name="Understanding V bypasses normalization and RoPE end">
            <a:extLst xmlns:a="http://schemas.openxmlformats.org/drawingml/2006/main">
              <a:ext uri="{FF2B5EF4-FFF2-40B4-BE49-F238E27FC236}">
                <a16:creationId xmlns:a16="http://schemas.microsoft.com/office/drawing/2014/main" id="{ACD6E387-B31D-4BCE-A229-5AAB0029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947" y="5017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90" name="Understanding V bypasses normalization and RoPE"/>
          <p:cNvCxnSpPr>
            <a:stCxn xmlns:a="http://schemas.openxmlformats.org/drawingml/2006/main" id="91" idx="0"/>
            <a:endCxn xmlns:a="http://schemas.openxmlformats.org/drawingml/2006/main" id="92" idx="0"/>
          </p:cNvCxnSpPr>
          <p:nvPr/>
        </p:nvCxnSpPr>
        <p:spPr>
          <a:xfrm xmlns:a="http://schemas.openxmlformats.org/drawingml/2006/main" flipV="1">
            <a:off x="7613424" y="501784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" name="Understanding QK edge label">
            <a:extLst xmlns:a="http://schemas.openxmlformats.org/drawingml/2006/main">
              <a:ext uri="{FF2B5EF4-FFF2-40B4-BE49-F238E27FC236}">
                <a16:creationId xmlns:a16="http://schemas.microsoft.com/office/drawing/2014/main" id="{BE6AC1D1-2A8D-4D12-89CD-BDB3E9AE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011" y="6694239"/>
            <a:ext cx="56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Q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K</a:t>
            </a:r>
          </a:p>
        </p:txBody>
      </p:sp>
      <p:sp>
        <p:nvSpPr>
          <p:cNvPr id="95" name="Understanding V edge label">
            <a:extLst xmlns:a="http://schemas.openxmlformats.org/drawingml/2006/main">
              <a:ext uri="{FF2B5EF4-FFF2-40B4-BE49-F238E27FC236}">
                <a16:creationId xmlns:a16="http://schemas.microsoft.com/office/drawing/2014/main" id="{2AC73A19-4707-4794-994C-E63E137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573" y="5770791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</a:t>
            </a:r>
          </a:p>
        </p:txBody>
      </p:sp>
      <p:sp>
        <p:nvSpPr>
          <p:cNvPr id="96" name="Understanding attention to output projection start">
            <a:extLst xmlns:a="http://schemas.openxmlformats.org/drawingml/2006/main">
              <a:ext uri="{FF2B5EF4-FFF2-40B4-BE49-F238E27FC236}">
                <a16:creationId xmlns:a16="http://schemas.microsoft.com/office/drawing/2014/main" id="{97C45020-7FDA-4327-94B3-B97A2236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42558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97" name="Understanding attention to output projection end">
            <a:extLst xmlns:a="http://schemas.openxmlformats.org/drawingml/2006/main">
              <a:ext uri="{FF2B5EF4-FFF2-40B4-BE49-F238E27FC236}">
                <a16:creationId xmlns:a16="http://schemas.microsoft.com/office/drawing/2014/main" id="{5D960E11-22AB-425D-A5EB-3D486D1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38557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395" name="Understanding attention to output projection"/>
          <p:cNvCxnSpPr>
            <a:stCxn xmlns:a="http://schemas.openxmlformats.org/drawingml/2006/main" id="96" idx="0"/>
            <a:endCxn xmlns:a="http://schemas.openxmlformats.org/drawingml/2006/main" id="97" idx="0"/>
          </p:cNvCxnSpPr>
          <p:nvPr/>
        </p:nvCxnSpPr>
        <p:spPr>
          <a:xfrm xmlns:a="http://schemas.openxmlformats.org/drawingml/2006/main" flipV="1">
            <a:off x="6422799" y="385579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6" name="Understanding output projection to residual add"/>
          <p:cNvCxnSpPr>
            <a:stCxn xmlns:a="http://schemas.openxmlformats.org/drawingml/2006/main" id="74" idx="0"/>
            <a:endCxn xmlns:a="http://schemas.openxmlformats.org/drawingml/2006/main" id="75" idx="4"/>
          </p:cNvCxnSpPr>
          <p:nvPr/>
        </p:nvCxnSpPr>
        <p:spPr>
          <a:xfrm xmlns:a="http://schemas.openxmlformats.org/drawingml/2006/main" flipV="1">
            <a:off x="6422798" y="3103791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" name="Understanding residual to pre-MLP"/>
          <p:cNvCxnSpPr>
            <a:stCxn xmlns:a="http://schemas.openxmlformats.org/drawingml/2006/main" id="75" idx="0"/>
            <a:endCxn xmlns:a="http://schemas.openxmlformats.org/drawingml/2006/main" id="76" idx="2"/>
          </p:cNvCxnSpPr>
          <p:nvPr/>
        </p:nvCxnSpPr>
        <p:spPr>
          <a:xfrm xmlns:a="http://schemas.openxmlformats.org/drawingml/2006/main" flipV="1">
            <a:off x="6422798" y="2598966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" name="Understanding pre-MLP to MLP start">
            <a:extLst xmlns:a="http://schemas.openxmlformats.org/drawingml/2006/main">
              <a:ext uri="{FF2B5EF4-FFF2-40B4-BE49-F238E27FC236}">
                <a16:creationId xmlns:a16="http://schemas.microsoft.com/office/drawing/2014/main" id="{3A5188D0-5BA2-48BE-84F3-AD23457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20936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02" name="Understanding pre-MLP to MLP end">
            <a:extLst xmlns:a="http://schemas.openxmlformats.org/drawingml/2006/main">
              <a:ext uri="{FF2B5EF4-FFF2-40B4-BE49-F238E27FC236}">
                <a16:creationId xmlns:a16="http://schemas.microsoft.com/office/drawing/2014/main" id="{BD1D7422-410B-4ED6-A225-8D720C0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1807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00" name="Understanding pre-MLP to MLP"/>
          <p:cNvCxnSpPr>
            <a:stCxn xmlns:a="http://schemas.openxmlformats.org/drawingml/2006/main" id="101" idx="0"/>
            <a:endCxn xmlns:a="http://schemas.openxmlformats.org/drawingml/2006/main" id="102" idx="0"/>
          </p:cNvCxnSpPr>
          <p:nvPr/>
        </p:nvCxnSpPr>
        <p:spPr>
          <a:xfrm xmlns:a="http://schemas.openxmlformats.org/drawingml/2006/main" flipV="1">
            <a:off x="6422799" y="180791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Understanding MLP to final residual start">
            <a:extLst xmlns:a="http://schemas.openxmlformats.org/drawingml/2006/main">
              <a:ext uri="{FF2B5EF4-FFF2-40B4-BE49-F238E27FC236}">
                <a16:creationId xmlns:a16="http://schemas.microsoft.com/office/drawing/2014/main" id="{9F678383-9A1A-49A0-B0BE-9C1CE5A7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11602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05" name="Understanding MLP to final residual end">
            <a:extLst xmlns:a="http://schemas.openxmlformats.org/drawingml/2006/main">
              <a:ext uri="{FF2B5EF4-FFF2-40B4-BE49-F238E27FC236}">
                <a16:creationId xmlns:a16="http://schemas.microsoft.com/office/drawing/2014/main" id="{8E89E3A8-D293-4F36-A7FC-ED4F2EC6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10078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03" name="Understanding MLP to final residual"/>
          <p:cNvCxnSpPr>
            <a:stCxn xmlns:a="http://schemas.openxmlformats.org/drawingml/2006/main" id="104" idx="0"/>
            <a:endCxn xmlns:a="http://schemas.openxmlformats.org/drawingml/2006/main" id="105" idx="0"/>
          </p:cNvCxnSpPr>
          <p:nvPr/>
        </p:nvCxnSpPr>
        <p:spPr>
          <a:xfrm xmlns:a="http://schemas.openxmlformats.org/drawingml/2006/main" flipV="1">
            <a:off x="6422799" y="100781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" name="Understanding layer output start">
            <a:extLst xmlns:a="http://schemas.openxmlformats.org/drawingml/2006/main">
              <a:ext uri="{FF2B5EF4-FFF2-40B4-BE49-F238E27FC236}">
                <a16:creationId xmlns:a16="http://schemas.microsoft.com/office/drawing/2014/main" id="{6E2C48C1-85DC-436E-B045-00DD1B4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7030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08" name="Understanding layer output end">
            <a:extLst xmlns:a="http://schemas.openxmlformats.org/drawingml/2006/main">
              <a:ext uri="{FF2B5EF4-FFF2-40B4-BE49-F238E27FC236}">
                <a16:creationId xmlns:a16="http://schemas.microsoft.com/office/drawing/2014/main" id="{9DAAC852-BDCA-4647-8A50-B0F6DF5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5125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06" name="Understanding layer output"/>
          <p:cNvCxnSpPr>
            <a:stCxn xmlns:a="http://schemas.openxmlformats.org/drawingml/2006/main" id="107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6422798" y="474891"/>
            <a:ext cx="1" cy="228124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" name="Understanding token input to pre-attn start">
            <a:extLst xmlns:a="http://schemas.openxmlformats.org/drawingml/2006/main">
              <a:ext uri="{FF2B5EF4-FFF2-40B4-BE49-F238E27FC236}">
                <a16:creationId xmlns:a16="http://schemas.microsoft.com/office/drawing/2014/main" id="{20FFAB19-A6DF-4EA3-8CA7-B542902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91897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11" name="Understanding token input to pre-attn end">
            <a:extLst xmlns:a="http://schemas.openxmlformats.org/drawingml/2006/main">
              <a:ext uri="{FF2B5EF4-FFF2-40B4-BE49-F238E27FC236}">
                <a16:creationId xmlns:a16="http://schemas.microsoft.com/office/drawing/2014/main" id="{F872276F-77AD-4D9C-B864-D49175A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83420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09" name="Understanding token input to pre-attn"/>
          <p:cNvCxnSpPr>
            <a:stCxn xmlns:a="http://schemas.openxmlformats.org/drawingml/2006/main" id="110" idx="0"/>
            <a:endCxn xmlns:a="http://schemas.openxmlformats.org/drawingml/2006/main" id="111" idx="0"/>
          </p:cNvCxnSpPr>
          <p:nvPr/>
        </p:nvCxnSpPr>
        <p:spPr>
          <a:xfrm xmlns:a="http://schemas.openxmlformats.org/drawingml/2006/main" flipV="1">
            <a:off x="6422799" y="8342065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" name="Understanding attention residual bypass segment 1 start">
            <a:extLst xmlns:a="http://schemas.openxmlformats.org/drawingml/2006/main">
              <a:ext uri="{FF2B5EF4-FFF2-40B4-BE49-F238E27FC236}">
                <a16:creationId xmlns:a16="http://schemas.microsoft.com/office/drawing/2014/main" id="{61842222-522D-4092-813C-F0693ED3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86468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14" name="Understanding attention residual bypass segment 1 end">
            <a:extLst xmlns:a="http://schemas.openxmlformats.org/drawingml/2006/main">
              <a:ext uri="{FF2B5EF4-FFF2-40B4-BE49-F238E27FC236}">
                <a16:creationId xmlns:a16="http://schemas.microsoft.com/office/drawing/2014/main" id="{F3EB141D-884D-4F80-88CD-128D3208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922" y="86468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12" name="Understanding attention residual bypass segment 1"/>
          <p:cNvCxnSpPr>
            <a:stCxn xmlns:a="http://schemas.openxmlformats.org/drawingml/2006/main" id="113" idx="0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6422799" y="8646865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116" name="Understanding attention residual bypass segment 2 start">
            <a:extLst xmlns:a="http://schemas.openxmlformats.org/drawingml/2006/main">
              <a:ext uri="{FF2B5EF4-FFF2-40B4-BE49-F238E27FC236}">
                <a16:creationId xmlns:a16="http://schemas.microsoft.com/office/drawing/2014/main" id="{58AEFB34-9A7C-4B9E-BE9E-14168FC4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922" y="86468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17" name="Understanding attention residual bypass segment 2 end">
            <a:extLst xmlns:a="http://schemas.openxmlformats.org/drawingml/2006/main">
              <a:ext uri="{FF2B5EF4-FFF2-40B4-BE49-F238E27FC236}">
                <a16:creationId xmlns:a16="http://schemas.microsoft.com/office/drawing/2014/main" id="{AD017E56-2BDF-4A54-8107-C9FBD1AE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922" y="2950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15" name="Understanding attention residual bypass segment 2"/>
          <p:cNvCxnSpPr>
            <a:stCxn xmlns:a="http://schemas.openxmlformats.org/drawingml/2006/main" id="116" idx="0"/>
            <a:endCxn xmlns:a="http://schemas.openxmlformats.org/drawingml/2006/main" id="117" idx="0"/>
          </p:cNvCxnSpPr>
          <p:nvPr/>
        </p:nvCxnSpPr>
        <p:spPr>
          <a:xfrm xmlns:a="http://schemas.openxmlformats.org/drawingml/2006/main" flipV="1">
            <a:off x="8175399" y="2950915"/>
            <a:ext cx="0" cy="569595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119" name="Understanding attention residual bypass segment 3 start">
            <a:extLst xmlns:a="http://schemas.openxmlformats.org/drawingml/2006/main">
              <a:ext uri="{FF2B5EF4-FFF2-40B4-BE49-F238E27FC236}">
                <a16:creationId xmlns:a16="http://schemas.microsoft.com/office/drawing/2014/main" id="{C0F872B9-24F4-4E40-85C8-477A8F88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922" y="2950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20" name="Understanding attention residual bypass segment 3 end">
            <a:extLst xmlns:a="http://schemas.openxmlformats.org/drawingml/2006/main">
              <a:ext uri="{FF2B5EF4-FFF2-40B4-BE49-F238E27FC236}">
                <a16:creationId xmlns:a16="http://schemas.microsoft.com/office/drawing/2014/main" id="{0DB876ED-0D61-494D-8C76-6B73E4E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722" y="2950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18" name="Understanding attention residual bypass segment 3"/>
          <p:cNvCxnSpPr>
            <a:stCxn xmlns:a="http://schemas.openxmlformats.org/drawingml/2006/main" id="119" idx="0"/>
            <a:endCxn xmlns:a="http://schemas.openxmlformats.org/drawingml/2006/main" id="120" idx="0"/>
          </p:cNvCxnSpPr>
          <p:nvPr/>
        </p:nvCxnSpPr>
        <p:spPr>
          <a:xfrm xmlns:a="http://schemas.openxmlformats.org/drawingml/2006/main" flipH="1">
            <a:off x="6575199" y="295091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Understanding MLP residual bypass segment 1 start">
            <a:extLst xmlns:a="http://schemas.openxmlformats.org/drawingml/2006/main">
              <a:ext uri="{FF2B5EF4-FFF2-40B4-BE49-F238E27FC236}">
                <a16:creationId xmlns:a16="http://schemas.microsoft.com/office/drawing/2014/main" id="{C1EDE4E8-7BD6-4775-9B2F-051C091A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2760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23" name="Understanding MLP residual bypass segment 1 end">
            <a:extLst xmlns:a="http://schemas.openxmlformats.org/drawingml/2006/main">
              <a:ext uri="{FF2B5EF4-FFF2-40B4-BE49-F238E27FC236}">
                <a16:creationId xmlns:a16="http://schemas.microsoft.com/office/drawing/2014/main" id="{010DCC7C-C05C-48A0-AEEC-781737C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472" y="2760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21" name="Understanding MLP residual bypass segment 1"/>
          <p:cNvCxnSpPr>
            <a:stCxn xmlns:a="http://schemas.openxmlformats.org/drawingml/2006/main" id="122" idx="0"/>
            <a:endCxn xmlns:a="http://schemas.openxmlformats.org/drawingml/2006/main" id="123" idx="0"/>
          </p:cNvCxnSpPr>
          <p:nvPr/>
        </p:nvCxnSpPr>
        <p:spPr>
          <a:xfrm xmlns:a="http://schemas.openxmlformats.org/drawingml/2006/main">
            <a:off x="6422799" y="2760415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125" name="Understanding MLP residual bypass segment 2 start">
            <a:extLst xmlns:a="http://schemas.openxmlformats.org/drawingml/2006/main">
              <a:ext uri="{FF2B5EF4-FFF2-40B4-BE49-F238E27FC236}">
                <a16:creationId xmlns:a16="http://schemas.microsoft.com/office/drawing/2014/main" id="{DECE4170-7B5D-42BB-B944-DCF97C8E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472" y="2760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26" name="Understanding MLP residual bypass segment 2 end">
            <a:extLst xmlns:a="http://schemas.openxmlformats.org/drawingml/2006/main">
              <a:ext uri="{FF2B5EF4-FFF2-40B4-BE49-F238E27FC236}">
                <a16:creationId xmlns:a16="http://schemas.microsoft.com/office/drawing/2014/main" id="{666B1B1E-0F24-4FF8-8283-16B1D3E6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472" y="855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24" name="Understanding MLP residual bypass segment 2"/>
          <p:cNvCxnSpPr>
            <a:stCxn xmlns:a="http://schemas.openxmlformats.org/drawingml/2006/main" id="125" idx="0"/>
            <a:endCxn xmlns:a="http://schemas.openxmlformats.org/drawingml/2006/main" id="126" idx="0"/>
          </p:cNvCxnSpPr>
          <p:nvPr/>
        </p:nvCxnSpPr>
        <p:spPr>
          <a:xfrm xmlns:a="http://schemas.openxmlformats.org/drawingml/2006/main" flipV="1">
            <a:off x="8003949" y="855415"/>
            <a:ext cx="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128" name="Understanding MLP residual bypass segment 3 start">
            <a:extLst xmlns:a="http://schemas.openxmlformats.org/drawingml/2006/main">
              <a:ext uri="{FF2B5EF4-FFF2-40B4-BE49-F238E27FC236}">
                <a16:creationId xmlns:a16="http://schemas.microsoft.com/office/drawing/2014/main" id="{EF9ECF4A-E55E-48C2-B9F1-6EC47B44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472" y="855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29" name="Understanding MLP residual bypass segment 3 end">
            <a:extLst xmlns:a="http://schemas.openxmlformats.org/drawingml/2006/main">
              <a:ext uri="{FF2B5EF4-FFF2-40B4-BE49-F238E27FC236}">
                <a16:creationId xmlns:a16="http://schemas.microsoft.com/office/drawing/2014/main" id="{D5842CEC-CAED-4AB5-BDB5-041B26B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722" y="8554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27" name="Understanding MLP residual bypass segment 3"/>
          <p:cNvCxnSpPr>
            <a:stCxn xmlns:a="http://schemas.openxmlformats.org/drawingml/2006/main" id="128" idx="0"/>
            <a:endCxn xmlns:a="http://schemas.openxmlformats.org/drawingml/2006/main" id="129" idx="0"/>
          </p:cNvCxnSpPr>
          <p:nvPr/>
        </p:nvCxnSpPr>
        <p:spPr>
          <a:xfrm xmlns:a="http://schemas.openxmlformats.org/drawingml/2006/main" flipH="1">
            <a:off x="6575199" y="85541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11111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" name="Understanding input tokens">
            <a:extLst xmlns:a="http://schemas.openxmlformats.org/drawingml/2006/main">
              <a:ext uri="{FF2B5EF4-FFF2-40B4-BE49-F238E27FC236}">
                <a16:creationId xmlns:a16="http://schemas.microsoft.com/office/drawing/2014/main" id="{C665BCCC-8F6A-46F4-A9A2-394693F4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698" y="9190266"/>
            <a:ext cx="31242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7DED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32" name="Understanding input label">
            <a:extLst xmlns:a="http://schemas.openxmlformats.org/drawingml/2006/main">
              <a:ext uri="{FF2B5EF4-FFF2-40B4-BE49-F238E27FC236}">
                <a16:creationId xmlns:a16="http://schemas.microsoft.com/office/drawing/2014/main" id="{31A5AC34-1E48-4288-BDAE-EAF7A9F9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798" y="9369574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Text </a:t>
            </a:r>
            <a:r>
              <a: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&amp;</a:t>
            </a:r>
            <a:r>
              <a: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ViT</a:t>
            </a:r>
            <a:r>
              <a:rPr sz="217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 tokens</a:t>
            </a:r>
          </a:p>
        </p:txBody>
      </p:sp>
      <p:sp>
        <p:nvSpPr>
          <p:cNvPr id="133" name="Understanding parameter partition">
            <a:extLst xmlns:a="http://schemas.openxmlformats.org/drawingml/2006/main">
              <a:ext uri="{FF2B5EF4-FFF2-40B4-BE49-F238E27FC236}">
                <a16:creationId xmlns:a16="http://schemas.microsoft.com/office/drawing/2014/main" id="{E755D5AE-C789-4063-8D49-8D199A4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798" y="9533166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sz="195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ViT image encoder">
            <a:extLst xmlns:a="http://schemas.openxmlformats.org/drawingml/2006/main">
              <a:ext uri="{FF2B5EF4-FFF2-40B4-BE49-F238E27FC236}">
                <a16:creationId xmlns:a16="http://schemas.microsoft.com/office/drawing/2014/main" id="{707DC7A2-C773-46D8-8871-A3EDAC9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665" y="10200058"/>
            <a:ext cx="1441939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DED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ViT</a:t>
            </a:r>
          </a:p>
        </p:txBody>
      </p:sp>
      <p:sp>
        <p:nvSpPr>
          <p:cNvPr id="135" name="Vision connector input layer">
            <a:extLst xmlns:a="http://schemas.openxmlformats.org/drawingml/2006/main">
              <a:ext uri="{FF2B5EF4-FFF2-40B4-BE49-F238E27FC236}">
                <a16:creationId xmlns:a16="http://schemas.microsoft.com/office/drawing/2014/main" id="{6A4B4120-19A5-4EB0-B024-00E7D009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62" y="10200058"/>
            <a:ext cx="112395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DDDFE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688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Conn. in</a:t>
            </a:r>
          </a:p>
        </p:txBody>
      </p:sp>
      <p:sp>
        <p:nvSpPr>
          <p:cNvPr id="136" name="Vision connector output layer">
            <a:extLst xmlns:a="http://schemas.openxmlformats.org/drawingml/2006/main">
              <a:ext uri="{FF2B5EF4-FFF2-40B4-BE49-F238E27FC236}">
                <a16:creationId xmlns:a16="http://schemas.microsoft.com/office/drawing/2014/main" id="{C97C37A3-5BB4-43C5-92A0-033A3DD3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995" y="10202774"/>
            <a:ext cx="12192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DDDFE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688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Conn. out</a:t>
            </a:r>
          </a:p>
        </p:txBody>
      </p:sp>
      <p:sp>
        <p:nvSpPr>
          <p:cNvPr id="137" name="2D position embedding">
            <a:extLst xmlns:a="http://schemas.openxmlformats.org/drawingml/2006/main">
              <a:ext uri="{FF2B5EF4-FFF2-40B4-BE49-F238E27FC236}">
                <a16:creationId xmlns:a16="http://schemas.microsoft.com/office/drawing/2014/main" id="{82F15CC9-F363-4CBC-B526-2830912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472" y="10203045"/>
            <a:ext cx="1133475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D2E8CE"/>
          </a:solidFill>
          <a:ln xmlns:a="http://schemas.openxmlformats.org/drawingml/2006/main" w="38100">
            <a:solidFill>
              <a:srgbClr val="111111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2D pos.</a:t>
            </a:r>
          </a:p>
        </p:txBody>
      </p:sp>
      <p:cxnSp>
        <p:nvCxnSpPr>
          <p:cNvPr id="435" name="ViT to connector input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3202604" y="10466758"/>
            <a:ext cx="33755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tailEnd type="triangle" w="sm" len="sm"/>
          </a:ln>
        </p:spPr>
      </p:cxnSp>
      <p:cxnSp>
        <p:nvCxnSpPr>
          <p:cNvPr id="436" name="Connector input to connector output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4664112" y="10466758"/>
            <a:ext cx="270883" cy="2716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tailEnd type="triangle" w="sm" len="sm"/>
          </a:ln>
        </p:spPr>
      </p:cxnSp>
      <p:cxnSp>
        <p:nvCxnSpPr>
          <p:cNvPr id="437" name="Connector output to position embedding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6154195" y="10469474"/>
            <a:ext cx="325277" cy="271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tailEnd type="triangle" w="sm" len="sm"/>
          </a:ln>
        </p:spPr>
      </p:cxnSp>
      <p:sp>
        <p:nvSpPr>
          <p:cNvPr id="141" name="Visual embeddings to understanding tokens segment 1 start">
            <a:extLst xmlns:a="http://schemas.openxmlformats.org/drawingml/2006/main">
              <a:ext uri="{FF2B5EF4-FFF2-40B4-BE49-F238E27FC236}">
                <a16:creationId xmlns:a16="http://schemas.microsoft.com/office/drawing/2014/main" id="{61D55981-34DF-4202-92DB-A7FA2A7F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834" y="1018991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42" name="Visual embeddings to understanding tokens segment 1 end">
            <a:extLst xmlns:a="http://schemas.openxmlformats.org/drawingml/2006/main">
              <a:ext uri="{FF2B5EF4-FFF2-40B4-BE49-F238E27FC236}">
                <a16:creationId xmlns:a16="http://schemas.microsoft.com/office/drawing/2014/main" id="{562AA30A-EFC9-455F-ACA5-711E02A7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834" y="100184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40" name="Visual embeddings to understanding tokens segment 1"/>
          <p:cNvCxnSpPr>
            <a:stCxn xmlns:a="http://schemas.openxmlformats.org/drawingml/2006/main" id="137" idx="0"/>
          </p:cNvCxnSpPr>
          <p:nvPr/>
        </p:nvCxnSpPr>
        <p:spPr>
          <a:xfrm xmlns:a="http://schemas.openxmlformats.org/drawingml/2006/main" flipV="1">
            <a:off x="7046210" y="10017513"/>
            <a:ext cx="0" cy="185532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144" name="Visual embeddings to understanding tokens segment 2 start">
            <a:extLst xmlns:a="http://schemas.openxmlformats.org/drawingml/2006/main">
              <a:ext uri="{FF2B5EF4-FFF2-40B4-BE49-F238E27FC236}">
                <a16:creationId xmlns:a16="http://schemas.microsoft.com/office/drawing/2014/main" id="{9A367696-F2C3-4D69-8B55-07A9FCA7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834" y="100184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45" name="Visual embeddings to understanding tokens segment 2 end">
            <a:extLst xmlns:a="http://schemas.openxmlformats.org/drawingml/2006/main">
              <a:ext uri="{FF2B5EF4-FFF2-40B4-BE49-F238E27FC236}">
                <a16:creationId xmlns:a16="http://schemas.microsoft.com/office/drawing/2014/main" id="{D18D08AD-07CB-425E-A9D9-AC3DBB60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100184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43" name="Visual embeddings to understanding tokens segment 2"/>
          <p:cNvCxnSpPr>
            <a:endCxn xmlns:a="http://schemas.openxmlformats.org/drawingml/2006/main" id="145" idx="0"/>
          </p:cNvCxnSpPr>
          <p:nvPr/>
        </p:nvCxnSpPr>
        <p:spPr>
          <a:xfrm xmlns:a="http://schemas.openxmlformats.org/drawingml/2006/main" flipH="1">
            <a:off x="6422799" y="10018465"/>
            <a:ext cx="62341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tailEnd type="none" w="med" len="med"/>
          </a:ln>
        </p:spPr>
      </p:cxnSp>
      <p:sp>
        <p:nvSpPr>
          <p:cNvPr id="147" name="Visual embeddings to understanding tokens segment 3 start">
            <a:extLst xmlns:a="http://schemas.openxmlformats.org/drawingml/2006/main">
              <a:ext uri="{FF2B5EF4-FFF2-40B4-BE49-F238E27FC236}">
                <a16:creationId xmlns:a16="http://schemas.microsoft.com/office/drawing/2014/main" id="{061AFCBF-F37B-41E7-B1D9-1A486D5D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100184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148" name="Visual embeddings to understanding tokens segment 3 end">
            <a:extLst xmlns:a="http://schemas.openxmlformats.org/drawingml/2006/main">
              <a:ext uri="{FF2B5EF4-FFF2-40B4-BE49-F238E27FC236}">
                <a16:creationId xmlns:a16="http://schemas.microsoft.com/office/drawing/2014/main" id="{3CC5ACE9-9D57-415C-8F97-CB9742AB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322" y="987559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Arial"/>
              <a:ea typeface="Arial"/>
              <a:cs typeface="Arial"/>
            </a:endParaRPr>
          </a:p>
        </p:txBody>
      </p:sp>
      <p:cxnSp>
        <p:nvCxnSpPr>
          <p:cNvPr id="446" name="Visual embeddings to understanding tokens segment 3"/>
          <p:cNvCxnSpPr>
            <a:stCxn xmlns:a="http://schemas.openxmlformats.org/drawingml/2006/main" id="147" idx="0"/>
            <a:endCxn xmlns:a="http://schemas.openxmlformats.org/drawingml/2006/main" id="148" idx="0"/>
          </p:cNvCxnSpPr>
          <p:nvPr/>
        </p:nvCxnSpPr>
        <p:spPr>
          <a:xfrm xmlns:a="http://schemas.openxmlformats.org/drawingml/2006/main" flipV="1">
            <a:off x="6422799" y="987559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111111"/>
            </a:solidFill>
            <a:prstDash val="solid"/>
            <a:round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2281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2026-09-21T02:23:58.2290000Z</dcterms:created>
  <dcterms:modified xsi:type="dcterms:W3CDTF">2026-09-21T02:23:58.2290000Z</dcterms:modified>
</coreProperties>
</file>